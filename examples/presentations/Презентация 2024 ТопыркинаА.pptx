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91" r:id="rId5"/>
    <p:sldId id="308" r:id="rId6"/>
    <p:sldId id="311" r:id="rId7"/>
    <p:sldId id="261" r:id="rId8"/>
    <p:sldId id="263" r:id="rId9"/>
    <p:sldId id="264" r:id="rId10"/>
    <p:sldId id="296" r:id="rId11"/>
    <p:sldId id="267" r:id="rId12"/>
    <p:sldId id="299" r:id="rId13"/>
    <p:sldId id="300" r:id="rId14"/>
    <p:sldId id="310" r:id="rId15"/>
    <p:sldId id="301" r:id="rId16"/>
    <p:sldId id="276" r:id="rId17"/>
    <p:sldId id="277" r:id="rId18"/>
    <p:sldId id="302" r:id="rId19"/>
    <p:sldId id="303" r:id="rId20"/>
    <p:sldId id="294" r:id="rId21"/>
    <p:sldId id="278" r:id="rId22"/>
    <p:sldId id="309" r:id="rId23"/>
    <p:sldId id="281" r:id="rId24"/>
    <p:sldId id="307" r:id="rId25"/>
    <p:sldId id="305" r:id="rId26"/>
  </p:sldIdLst>
  <p:sldSz cx="24387175" cy="13716000"/>
  <p:notesSz cx="13716000" cy="24387175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Gropled" panose="020B0604020202020204" charset="0"/>
      <p:bold r:id="rId32"/>
    </p:embeddedFont>
    <p:embeddedFont>
      <p:font typeface="Montserrat" panose="020B0604020202020204" charset="-52"/>
      <p:regular r:id="rId33"/>
      <p:bold r:id="rId34"/>
    </p:embeddedFont>
    <p:embeddedFont>
      <p:font typeface="Montserrat Bold" panose="020B0604020202020204" charset="-52"/>
      <p:bold r:id="rId35"/>
    </p:embeddedFont>
    <p:embeddedFont>
      <p:font typeface="Montserrat Light" panose="020B0604020202020204" charset="-52"/>
      <p:regular r:id="rId36"/>
      <p:italic r:id="rId37"/>
    </p:embeddedFont>
    <p:embeddedFont>
      <p:font typeface="Montserrat Regular" panose="020B0604020202020204" charset="-52"/>
      <p:regular r:id="rId38"/>
    </p:embeddedFont>
    <p:embeddedFont>
      <p:font typeface="Montserrat SemiBold" panose="020B0604020202020204" charset="-52"/>
      <p:bold r:id="rId39"/>
      <p:boldItalic r:id="rId4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ина Топыркина" initials="АТ" lastIdx="1" clrIdx="0">
    <p:extLst>
      <p:ext uri="{19B8F6BF-5375-455C-9EA6-DF929625EA0E}">
        <p15:presenceInfo xmlns:p15="http://schemas.microsoft.com/office/powerpoint/2012/main" userId="cafe163dd014e3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9722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53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34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2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95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86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913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6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858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603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473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0954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497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318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869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15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990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91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jpg"/><Relationship Id="rId4" Type="http://schemas.openxmlformats.org/officeDocument/2006/relationships/image" Target="../media/image1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jpg"/><Relationship Id="rId4" Type="http://schemas.openxmlformats.org/officeDocument/2006/relationships/image" Target="../media/image1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" y="-1016746"/>
            <a:ext cx="24387048" cy="6032500"/>
          </a:xfrm>
          <a:prstGeom prst="roundRect">
            <a:avLst>
              <a:gd name="adj" fmla="val 21069"/>
            </a:avLst>
          </a:prstGeom>
          <a:solidFill>
            <a:srgbClr val="F4F7FF">
              <a:alpha val="10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89111" y="1206500"/>
            <a:ext cx="21855198" cy="376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80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РАЗРАБОТКА ВЕБ-ПРИЛОЖЕНИЯ</a:t>
            </a:r>
            <a:endParaRPr lang="en-US" sz="8000" dirty="0">
              <a:latin typeface="Gropled" pitchFamily="50" charset="0"/>
            </a:endParaRPr>
          </a:p>
          <a:p>
            <a:pPr marL="0" indent="0" algn="l">
              <a:lnSpc>
                <a:spcPts val="9000"/>
              </a:lnSpc>
              <a:buNone/>
            </a:pPr>
            <a:r>
              <a:rPr lang="en-US" sz="80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ДЛЯ УПРАВЛЕНИЯ МНОГОКВАРТИРНЫМ ДОМОМ</a:t>
            </a:r>
            <a:endParaRPr lang="en-US" sz="8000" dirty="0">
              <a:latin typeface="Gropled" pitchFamily="50" charset="0"/>
            </a:endParaRPr>
          </a:p>
        </p:txBody>
      </p:sp>
      <p:pic>
        <p:nvPicPr>
          <p:cNvPr id="4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39" y="5676900"/>
            <a:ext cx="6985873" cy="6985000"/>
          </a:xfrm>
          <a:prstGeom prst="rect">
            <a:avLst/>
          </a:prstGeom>
        </p:spPr>
      </p:pic>
      <p:pic>
        <p:nvPicPr>
          <p:cNvPr id="5" name="Image 1" descr=" 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3844" y="6686550"/>
            <a:ext cx="4504549" cy="4969145"/>
          </a:xfrm>
          <a:prstGeom prst="rect">
            <a:avLst/>
          </a:prstGeom>
        </p:spPr>
      </p:pic>
      <p:pic>
        <p:nvPicPr>
          <p:cNvPr id="6" name="Image 2" descr=" 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19555" y="9012374"/>
            <a:ext cx="1713201" cy="2643321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6321540" y="5676900"/>
            <a:ext cx="7722565" cy="4292600"/>
          </a:xfrm>
          <a:prstGeom prst="rect">
            <a:avLst/>
          </a:prstGeom>
          <a:noFill/>
          <a:ln/>
        </p:spPr>
      </p:sp>
      <p:sp>
        <p:nvSpPr>
          <p:cNvPr id="8" name="Shape 3"/>
          <p:cNvSpPr/>
          <p:nvPr/>
        </p:nvSpPr>
        <p:spPr>
          <a:xfrm>
            <a:off x="16321540" y="5676900"/>
            <a:ext cx="7722565" cy="1612900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16106392" y="5676900"/>
            <a:ext cx="7858049" cy="63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546F0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Выполнила:</a:t>
            </a:r>
            <a:endParaRPr lang="en-US" sz="3200" dirty="0"/>
          </a:p>
        </p:txBody>
      </p:sp>
      <p:sp>
        <p:nvSpPr>
          <p:cNvPr id="10" name="Text 5"/>
          <p:cNvSpPr/>
          <p:nvPr/>
        </p:nvSpPr>
        <p:spPr>
          <a:xfrm>
            <a:off x="16106392" y="6299200"/>
            <a:ext cx="7858049" cy="1126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обучающаяся группы 6413-020302D Топыркина А.Д.</a:t>
            </a:r>
            <a:endParaRPr lang="en-US" sz="3200" dirty="0"/>
          </a:p>
        </p:txBody>
      </p:sp>
      <p:sp>
        <p:nvSpPr>
          <p:cNvPr id="11" name="Shape 6"/>
          <p:cNvSpPr/>
          <p:nvPr/>
        </p:nvSpPr>
        <p:spPr>
          <a:xfrm>
            <a:off x="16321540" y="7861300"/>
            <a:ext cx="7532041" cy="2108200"/>
          </a:xfrm>
          <a:prstGeom prst="rect">
            <a:avLst/>
          </a:prstGeom>
          <a:noFill/>
          <a:ln/>
        </p:spPr>
      </p:sp>
      <p:sp>
        <p:nvSpPr>
          <p:cNvPr id="12" name="Text 7"/>
          <p:cNvSpPr/>
          <p:nvPr/>
        </p:nvSpPr>
        <p:spPr>
          <a:xfrm>
            <a:off x="16016747" y="7861300"/>
            <a:ext cx="3310880" cy="63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546F0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Руководитель:</a:t>
            </a:r>
            <a:endParaRPr lang="en-US" sz="3200" dirty="0"/>
          </a:p>
        </p:txBody>
      </p:sp>
      <p:sp>
        <p:nvSpPr>
          <p:cNvPr id="13" name="Text 8"/>
          <p:cNvSpPr/>
          <p:nvPr/>
        </p:nvSpPr>
        <p:spPr>
          <a:xfrm>
            <a:off x="16106392" y="8483600"/>
            <a:ext cx="7667525" cy="1621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доцент кафедры программных систем, к.т.н., доцент</a:t>
            </a:r>
            <a:endParaRPr lang="en-US" sz="3200" dirty="0"/>
          </a:p>
          <a:p>
            <a:pPr marL="0" indent="0" algn="l">
              <a:buNone/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Д. А. Попова-Коварцева</a:t>
            </a:r>
            <a:endParaRPr lang="en-US" sz="3200" dirty="0"/>
          </a:p>
        </p:txBody>
      </p:sp>
      <p:sp>
        <p:nvSpPr>
          <p:cNvPr id="14" name="Shape 9"/>
          <p:cNvSpPr/>
          <p:nvPr/>
        </p:nvSpPr>
        <p:spPr>
          <a:xfrm>
            <a:off x="774797" y="11010900"/>
            <a:ext cx="7290711" cy="1612900"/>
          </a:xfrm>
          <a:prstGeom prst="rect">
            <a:avLst/>
          </a:prstGeom>
          <a:noFill/>
          <a:ln/>
        </p:spPr>
      </p:sp>
      <p:sp>
        <p:nvSpPr>
          <p:cNvPr id="15" name="Text 10"/>
          <p:cNvSpPr/>
          <p:nvPr/>
        </p:nvSpPr>
        <p:spPr>
          <a:xfrm>
            <a:off x="1828805" y="11010900"/>
            <a:ext cx="6021555" cy="1126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200" dirty="0">
                <a:solidFill>
                  <a:srgbClr val="0546F0">
                    <a:alpha val="100000"/>
                  </a:srgbClr>
                </a:solidFill>
                <a:latin typeface="Montserrat SemiBold" pitchFamily="34" charset="0"/>
              </a:rPr>
              <a:t>Выпускная квалификационная работа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5009438" y="12128500"/>
            <a:ext cx="2840922" cy="63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2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Самара 2024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51399"/>
            <a:ext cx="24387048" cy="10714904"/>
          </a:xfrm>
          <a:prstGeom prst="roundRect">
            <a:avLst>
              <a:gd name="adj" fmla="val 12765"/>
            </a:avLst>
          </a:prstGeom>
          <a:solidFill>
            <a:srgbClr val="F4F7FF">
              <a:alpha val="10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89111" y="1765300"/>
            <a:ext cx="22735842" cy="10934700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889111" y="1765300"/>
            <a:ext cx="15788073" cy="2552700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889111" y="973944"/>
            <a:ext cx="7866517" cy="2201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/>
                <a:cs typeface="Gropled Bold" pitchFamily="34" charset="-120"/>
              </a:rPr>
              <a:t>ЦЕЛЬ РАБОТЫ</a:t>
            </a:r>
            <a:endParaRPr lang="en-US" sz="8500" dirty="0">
              <a:latin typeface="Gropled" pitchFamily="50" charset="0"/>
              <a:ea typeface="Gropled Bold"/>
            </a:endParaRPr>
          </a:p>
        </p:txBody>
      </p:sp>
      <p:sp>
        <p:nvSpPr>
          <p:cNvPr id="8" name="Text 5"/>
          <p:cNvSpPr/>
          <p:nvPr/>
        </p:nvSpPr>
        <p:spPr>
          <a:xfrm>
            <a:off x="889110" y="2889902"/>
            <a:ext cx="17641485" cy="124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Разработать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веб-приложения для управления </a:t>
            </a:r>
            <a:r>
              <a:rPr lang="en-US" sz="3500" dirty="0" err="1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многоквартирным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500" dirty="0" err="1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домом</a:t>
            </a: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.</a:t>
            </a:r>
            <a:endParaRPr lang="en-US" sz="3500" dirty="0"/>
          </a:p>
        </p:txBody>
      </p:sp>
      <p:sp>
        <p:nvSpPr>
          <p:cNvPr id="9" name="Shape 6"/>
          <p:cNvSpPr/>
          <p:nvPr/>
        </p:nvSpPr>
        <p:spPr>
          <a:xfrm>
            <a:off x="889111" y="5588000"/>
            <a:ext cx="22735842" cy="71120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889111" y="4194809"/>
            <a:ext cx="4627612" cy="2201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/>
                <a:cs typeface="Gropled Bold" pitchFamily="34" charset="-120"/>
              </a:rPr>
              <a:t>ЗАДАЧИ</a:t>
            </a:r>
            <a:endParaRPr lang="en-US" sz="8500" dirty="0">
              <a:latin typeface="Gropled" pitchFamily="50" charset="0"/>
              <a:ea typeface="Gropled Bold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89111" y="7048500"/>
            <a:ext cx="22735842" cy="56515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889111" y="7048500"/>
            <a:ext cx="6985873" cy="5651500"/>
          </a:xfrm>
          <a:prstGeom prst="rect">
            <a:avLst/>
          </a:prstGeom>
          <a:noFill/>
          <a:ln/>
        </p:spPr>
      </p:sp>
      <p:sp>
        <p:nvSpPr>
          <p:cNvPr id="13" name="Text 10"/>
          <p:cNvSpPr/>
          <p:nvPr/>
        </p:nvSpPr>
        <p:spPr>
          <a:xfrm>
            <a:off x="571874" y="6059467"/>
            <a:ext cx="7567015" cy="124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1" algn="l">
              <a:buSzPct val="100000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Проанализировать и описать предметную область:</a:t>
            </a:r>
            <a:endParaRPr lang="en-US" sz="3500" dirty="0"/>
          </a:p>
        </p:txBody>
      </p:sp>
      <p:sp>
        <p:nvSpPr>
          <p:cNvPr id="14" name="Text 11"/>
          <p:cNvSpPr/>
          <p:nvPr/>
        </p:nvSpPr>
        <p:spPr>
          <a:xfrm>
            <a:off x="571873" y="7342167"/>
            <a:ext cx="7866517" cy="4516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изучить принципы работы приложений для управления многоквартирным домом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;</a:t>
            </a:r>
            <a:endParaRPr lang="ru-RU" sz="3500" dirty="0">
              <a:solidFill>
                <a:srgbClr val="141414">
                  <a:alpha val="100000"/>
                </a:srgbClr>
              </a:solidFill>
              <a:latin typeface="Montserrat Regular" pitchFamily="34" charset="0"/>
            </a:endParaRPr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сделать обзор систем-аналогов в области управления многоквартирными домами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.</a:t>
            </a:r>
            <a:endParaRPr lang="en-US" sz="3500" dirty="0"/>
          </a:p>
        </p:txBody>
      </p:sp>
      <p:sp>
        <p:nvSpPr>
          <p:cNvPr id="15" name="Shape 12"/>
          <p:cNvSpPr/>
          <p:nvPr/>
        </p:nvSpPr>
        <p:spPr>
          <a:xfrm>
            <a:off x="8764095" y="7048500"/>
            <a:ext cx="6985873" cy="4559300"/>
          </a:xfrm>
          <a:prstGeom prst="rect">
            <a:avLst/>
          </a:prstGeom>
          <a:noFill/>
          <a:ln/>
        </p:spPr>
      </p:sp>
      <p:sp>
        <p:nvSpPr>
          <p:cNvPr id="16" name="Text 13"/>
          <p:cNvSpPr/>
          <p:nvPr/>
        </p:nvSpPr>
        <p:spPr>
          <a:xfrm>
            <a:off x="8596146" y="6059467"/>
            <a:ext cx="6791115" cy="124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1" algn="l">
              <a:buSzPct val="100000"/>
            </a:pPr>
            <a:r>
              <a:rPr lang="en-US" sz="3500" dirty="0" err="1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Спроектировать</a:t>
            </a:r>
            <a:endParaRPr lang="ru-RU" sz="3500" dirty="0">
              <a:solidFill>
                <a:srgbClr val="141414">
                  <a:alpha val="100000"/>
                </a:srgbClr>
              </a:solidFill>
              <a:latin typeface="Montserrat SemiBold" pitchFamily="34" charset="0"/>
              <a:ea typeface="Montserrat SemiBold" pitchFamily="34" charset="-122"/>
              <a:cs typeface="Montserrat SemiBold" pitchFamily="34" charset="-120"/>
            </a:endParaRPr>
          </a:p>
          <a:p>
            <a:pPr marL="342900" lvl="1" algn="l">
              <a:buSzPct val="100000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</a:t>
            </a:r>
            <a:r>
              <a:rPr lang="en-US" sz="3500" dirty="0" err="1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истему</a:t>
            </a: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:</a:t>
            </a:r>
            <a:endParaRPr lang="en-US" sz="3500" dirty="0"/>
          </a:p>
        </p:txBody>
      </p:sp>
      <p:sp>
        <p:nvSpPr>
          <p:cNvPr id="17" name="Text 14"/>
          <p:cNvSpPr/>
          <p:nvPr/>
        </p:nvSpPr>
        <p:spPr>
          <a:xfrm>
            <a:off x="8596145" y="7342167"/>
            <a:ext cx="7913090" cy="455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разработать структурную схему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;</a:t>
            </a:r>
            <a:endParaRPr lang="ru-RU" sz="3500" dirty="0">
              <a:solidFill>
                <a:srgbClr val="141414">
                  <a:alpha val="100000"/>
                </a:srgbClr>
              </a:solidFill>
              <a:latin typeface="Montserrat Regular" pitchFamily="34" charset="0"/>
              <a:ea typeface="Montserrat Regular" pitchFamily="34" charset="-122"/>
              <a:cs typeface="Montserrat Regular" pitchFamily="34" charset="-120"/>
            </a:endParaRPr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разработать информационно-логический проект системы</a:t>
            </a:r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разработать интерфейс пользователя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.</a:t>
            </a:r>
            <a:endParaRPr lang="en-US" sz="3500" dirty="0"/>
          </a:p>
        </p:txBody>
      </p:sp>
      <p:sp>
        <p:nvSpPr>
          <p:cNvPr id="18" name="Shape 15"/>
          <p:cNvSpPr/>
          <p:nvPr/>
        </p:nvSpPr>
        <p:spPr>
          <a:xfrm>
            <a:off x="16639080" y="7048500"/>
            <a:ext cx="6985873" cy="5105400"/>
          </a:xfrm>
          <a:prstGeom prst="rect">
            <a:avLst/>
          </a:prstGeom>
          <a:noFill/>
          <a:ln/>
        </p:spPr>
      </p:sp>
      <p:sp>
        <p:nvSpPr>
          <p:cNvPr id="19" name="Text 16"/>
          <p:cNvSpPr/>
          <p:nvPr/>
        </p:nvSpPr>
        <p:spPr>
          <a:xfrm>
            <a:off x="16732385" y="6059467"/>
            <a:ext cx="5673376" cy="124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1" algn="l">
              <a:buSzPct val="100000"/>
            </a:pPr>
            <a:r>
              <a:rPr lang="en-US" sz="3500" dirty="0" err="1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Реализовать</a:t>
            </a:r>
            <a:endParaRPr lang="ru-RU" sz="3500" dirty="0">
              <a:solidFill>
                <a:srgbClr val="141414">
                  <a:alpha val="100000"/>
                </a:srgbClr>
              </a:solidFill>
              <a:latin typeface="Montserrat SemiBold" pitchFamily="34" charset="0"/>
              <a:ea typeface="Montserrat SemiBold" pitchFamily="34" charset="-122"/>
              <a:cs typeface="Montserrat SemiBold" pitchFamily="34" charset="-120"/>
            </a:endParaRPr>
          </a:p>
          <a:p>
            <a:pPr marL="342900" lvl="1" algn="l">
              <a:buSzPct val="100000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</a:t>
            </a:r>
            <a:r>
              <a:rPr lang="en-US" sz="3500" dirty="0" err="1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истему</a:t>
            </a: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:</a:t>
            </a:r>
            <a:endParaRPr lang="en-US" sz="3500" dirty="0"/>
          </a:p>
        </p:txBody>
      </p:sp>
      <p:sp>
        <p:nvSpPr>
          <p:cNvPr id="20" name="Text 17"/>
          <p:cNvSpPr/>
          <p:nvPr/>
        </p:nvSpPr>
        <p:spPr>
          <a:xfrm>
            <a:off x="16732385" y="7342167"/>
            <a:ext cx="7134058" cy="397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buSzPct val="100000"/>
              <a:buChar char="•"/>
            </a:pPr>
            <a:r>
              <a:rPr lang="en-US" sz="3500" dirty="0" err="1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разработать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программное обеспечение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;</a:t>
            </a:r>
            <a:endParaRPr lang="en-US" sz="3500" dirty="0"/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провести тестирование     и отладку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.</a:t>
            </a:r>
            <a:endParaRPr lang="en-US" sz="3500" dirty="0"/>
          </a:p>
        </p:txBody>
      </p:sp>
      <p:pic>
        <p:nvPicPr>
          <p:cNvPr id="21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59903" y="-335901"/>
            <a:ext cx="4737692" cy="4203700"/>
          </a:xfrm>
          <a:prstGeom prst="rect">
            <a:avLst/>
          </a:prstGeom>
        </p:spPr>
      </p:pic>
      <p:pic>
        <p:nvPicPr>
          <p:cNvPr id="22" name="Image 2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355465" y="-335901"/>
            <a:ext cx="3442130" cy="2946400"/>
          </a:xfrm>
          <a:prstGeom prst="rect">
            <a:avLst/>
          </a:prstGeom>
        </p:spPr>
      </p:pic>
      <p:pic>
        <p:nvPicPr>
          <p:cNvPr id="23" name="Image 3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282681" y="-335901"/>
            <a:ext cx="2514914" cy="2019300"/>
          </a:xfrm>
          <a:prstGeom prst="rect">
            <a:avLst/>
          </a:prstGeom>
        </p:spPr>
      </p:pic>
      <p:pic>
        <p:nvPicPr>
          <p:cNvPr id="24" name="Image 2" descr=" ">
            <a:extLst>
              <a:ext uri="{FF2B5EF4-FFF2-40B4-BE49-F238E27FC236}">
                <a16:creationId xmlns:a16="http://schemas.microsoft.com/office/drawing/2014/main" id="{082739D2-B9E0-4054-ADE4-8AB8225FC5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12468288"/>
            <a:ext cx="24387048" cy="1346200"/>
          </a:xfrm>
          <a:prstGeom prst="rect">
            <a:avLst/>
          </a:prstGeom>
        </p:spPr>
      </p:pic>
      <p:sp>
        <p:nvSpPr>
          <p:cNvPr id="25" name="Text 10">
            <a:extLst>
              <a:ext uri="{FF2B5EF4-FFF2-40B4-BE49-F238E27FC236}">
                <a16:creationId xmlns:a16="http://schemas.microsoft.com/office/drawing/2014/main" id="{8BB0A508-2E4E-445E-9779-C20D779D72DF}"/>
              </a:ext>
            </a:extLst>
          </p:cNvPr>
          <p:cNvSpPr/>
          <p:nvPr/>
        </p:nvSpPr>
        <p:spPr>
          <a:xfrm>
            <a:off x="889111" y="12671488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69A26DCA-BA2C-406B-B4D9-CD661307D39E}"/>
              </a:ext>
            </a:extLst>
          </p:cNvPr>
          <p:cNvSpPr/>
          <p:nvPr/>
        </p:nvSpPr>
        <p:spPr>
          <a:xfrm>
            <a:off x="22590596" y="12881427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08209581-019D-43E3-B19C-116A6438A6ED}"/>
              </a:ext>
            </a:extLst>
          </p:cNvPr>
          <p:cNvSpPr/>
          <p:nvPr/>
        </p:nvSpPr>
        <p:spPr>
          <a:xfrm>
            <a:off x="-1574997" y="0"/>
            <a:ext cx="15664221" cy="13716000"/>
          </a:xfrm>
          <a:prstGeom prst="roundRect">
            <a:avLst>
              <a:gd name="adj" fmla="val 9267"/>
            </a:avLst>
          </a:prstGeom>
          <a:solidFill>
            <a:srgbClr val="F4F7FF">
              <a:alpha val="100000"/>
            </a:srgbClr>
          </a:solidFill>
          <a:ln/>
        </p:spPr>
      </p:sp>
      <p:pic>
        <p:nvPicPr>
          <p:cNvPr id="15" name="Image 0" descr=" ">
            <a:extLst>
              <a:ext uri="{FF2B5EF4-FFF2-40B4-BE49-F238E27FC236}">
                <a16:creationId xmlns:a16="http://schemas.microsoft.com/office/drawing/2014/main" id="{A67283CE-6FE1-41DA-BA58-648864ECD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86262" y="2730500"/>
            <a:ext cx="8941916" cy="8001000"/>
          </a:xfrm>
          <a:prstGeom prst="rect">
            <a:avLst/>
          </a:prstGeom>
        </p:spPr>
      </p:pic>
      <p:pic>
        <p:nvPicPr>
          <p:cNvPr id="16" name="Image 1" descr=" ">
            <a:extLst>
              <a:ext uri="{FF2B5EF4-FFF2-40B4-BE49-F238E27FC236}">
                <a16:creationId xmlns:a16="http://schemas.microsoft.com/office/drawing/2014/main" id="{0454433A-9DDB-421F-B82A-95EB9DDA3F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27591" y="2971800"/>
            <a:ext cx="8714781" cy="8001000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7EF10214-EB3C-4958-B726-9DA9024FB859}"/>
              </a:ext>
            </a:extLst>
          </p:cNvPr>
          <p:cNvSpPr/>
          <p:nvPr/>
        </p:nvSpPr>
        <p:spPr>
          <a:xfrm>
            <a:off x="889111" y="1513634"/>
            <a:ext cx="12875670" cy="2772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ОПИСАНИЕ</a:t>
            </a:r>
            <a:endParaRPr lang="en-US" sz="8500" dirty="0">
              <a:latin typeface="Gropled" pitchFamily="50" charset="0"/>
            </a:endParaRPr>
          </a:p>
          <a:p>
            <a:pPr marL="0" indent="0" algn="l">
              <a:lnSpc>
                <a:spcPts val="95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ПРЕДМЕТНОЙ ОБЛАСТИ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3BD900CF-AC0F-4A53-8AE8-1A3F9381E5E8}"/>
              </a:ext>
            </a:extLst>
          </p:cNvPr>
          <p:cNvSpPr/>
          <p:nvPr/>
        </p:nvSpPr>
        <p:spPr>
          <a:xfrm>
            <a:off x="889111" y="4601633"/>
            <a:ext cx="12739441" cy="397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Управляющая компания — 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это юридическое лицо, которое занимается управлением многоквартирными домами.</a:t>
            </a:r>
            <a:endParaRPr lang="en-US" sz="3500" dirty="0"/>
          </a:p>
          <a:p>
            <a:pPr marL="0" indent="0" algn="l">
              <a:buNone/>
            </a:pP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endParaRPr lang="en-US" sz="3500" dirty="0"/>
          </a:p>
          <a:p>
            <a:pPr marL="0" indent="0" algn="l">
              <a:buNone/>
            </a:pP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Собственник — 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это физическое или юридическое лицо, которое осуществляет право владения, пользования и распоряжения недвижимостью в правовых рамках. </a:t>
            </a:r>
            <a:endParaRPr lang="en-US" sz="3500" dirty="0"/>
          </a:p>
        </p:txBody>
      </p:sp>
      <p:pic>
        <p:nvPicPr>
          <p:cNvPr id="23" name="Image 2" descr=" ">
            <a:extLst>
              <a:ext uri="{FF2B5EF4-FFF2-40B4-BE49-F238E27FC236}">
                <a16:creationId xmlns:a16="http://schemas.microsoft.com/office/drawing/2014/main" id="{B5F4050A-560E-4BBF-AE64-6DA14D8C83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12468288"/>
            <a:ext cx="24387048" cy="1346200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3F7206C2-32F2-49FB-8AC3-92BBD483BA4F}"/>
              </a:ext>
            </a:extLst>
          </p:cNvPr>
          <p:cNvSpPr/>
          <p:nvPr/>
        </p:nvSpPr>
        <p:spPr>
          <a:xfrm>
            <a:off x="889111" y="12671488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9CABA174-FFF1-4492-8E22-E1EE3A349231}"/>
              </a:ext>
            </a:extLst>
          </p:cNvPr>
          <p:cNvSpPr/>
          <p:nvPr/>
        </p:nvSpPr>
        <p:spPr>
          <a:xfrm>
            <a:off x="22590596" y="12881427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3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864708" y="0"/>
            <a:ext cx="17058232" cy="13716000"/>
          </a:xfrm>
          <a:prstGeom prst="roundRect">
            <a:avLst>
              <a:gd name="adj" fmla="val 9267"/>
            </a:avLst>
          </a:prstGeom>
          <a:solidFill>
            <a:srgbClr val="F4F7FF">
              <a:alpha val="10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9111" y="2863850"/>
            <a:ext cx="10936067" cy="80010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889111" y="4324350"/>
            <a:ext cx="10936067" cy="65405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889111" y="4324350"/>
            <a:ext cx="10936067" cy="28575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889111" y="6915150"/>
            <a:ext cx="11084252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</a:rPr>
              <a:t>Функционал системы: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889111" y="7588250"/>
            <a:ext cx="11084252" cy="233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buSzPct val="100000"/>
              <a:buChar char="•"/>
            </a:pPr>
            <a:r>
              <a:rPr lang="en-US" sz="3500" dirty="0" err="1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мессенджер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;</a:t>
            </a:r>
            <a:endParaRPr lang="en-US" sz="3500" dirty="0"/>
          </a:p>
          <a:p>
            <a:pPr marL="685800" lvl="1" indent="-342900" algn="l">
              <a:buSzPct val="100000"/>
              <a:buChar char="•"/>
            </a:pP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сервисы ЖКХ;</a:t>
            </a:r>
            <a:endParaRPr lang="en-US" sz="3500" dirty="0"/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о</a:t>
            </a:r>
            <a:r>
              <a:rPr lang="en-US" sz="3500" dirty="0" err="1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бъявления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;</a:t>
            </a:r>
            <a:endParaRPr lang="ru-RU" sz="3500" dirty="0">
              <a:solidFill>
                <a:srgbClr val="141414">
                  <a:alpha val="100000"/>
                </a:srgbClr>
              </a:solidFill>
              <a:latin typeface="Montserrat Regular" pitchFamily="34" charset="0"/>
              <a:ea typeface="Montserrat Regular" pitchFamily="34" charset="-122"/>
              <a:cs typeface="Montserrat Regular" pitchFamily="34" charset="-120"/>
            </a:endParaRPr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личный кабинет.</a:t>
            </a:r>
            <a:endParaRPr lang="en-US" sz="3500" dirty="0"/>
          </a:p>
        </p:txBody>
      </p:sp>
      <p:sp>
        <p:nvSpPr>
          <p:cNvPr id="9" name="Shape 7"/>
          <p:cNvSpPr/>
          <p:nvPr/>
        </p:nvSpPr>
        <p:spPr>
          <a:xfrm>
            <a:off x="889111" y="7461250"/>
            <a:ext cx="10466108" cy="3403600"/>
          </a:xfrm>
          <a:prstGeom prst="rect">
            <a:avLst/>
          </a:prstGeom>
          <a:noFill/>
          <a:ln/>
        </p:spPr>
      </p:sp>
      <p:pic>
        <p:nvPicPr>
          <p:cNvPr id="14" name="Image 1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9934" y="2082800"/>
            <a:ext cx="5258399" cy="9543464"/>
          </a:xfrm>
          <a:prstGeom prst="rect">
            <a:avLst/>
          </a:prstGeom>
        </p:spPr>
      </p:pic>
      <p:pic>
        <p:nvPicPr>
          <p:cNvPr id="15" name="Image 2" descr="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5469" y="2082800"/>
            <a:ext cx="5258401" cy="9543464"/>
          </a:xfrm>
          <a:prstGeom prst="rect">
            <a:avLst/>
          </a:prstGeom>
        </p:spPr>
      </p:pic>
      <p:sp>
        <p:nvSpPr>
          <p:cNvPr id="16" name="Text 3">
            <a:extLst>
              <a:ext uri="{FF2B5EF4-FFF2-40B4-BE49-F238E27FC236}">
                <a16:creationId xmlns:a16="http://schemas.microsoft.com/office/drawing/2014/main" id="{4C8D621C-6AB9-4222-B103-619B4F5DD176}"/>
              </a:ext>
            </a:extLst>
          </p:cNvPr>
          <p:cNvSpPr/>
          <p:nvPr/>
        </p:nvSpPr>
        <p:spPr>
          <a:xfrm>
            <a:off x="889111" y="1543050"/>
            <a:ext cx="11304413" cy="156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0"/>
              </a:lnSpc>
              <a:buNone/>
            </a:pPr>
            <a:r>
              <a:rPr lang="ru-RU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СИСТЕМА-АНАЛОГ «ЛОКОЛО»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100E099-FD05-4117-8A66-895F1BC11D90}"/>
              </a:ext>
            </a:extLst>
          </p:cNvPr>
          <p:cNvSpPr/>
          <p:nvPr/>
        </p:nvSpPr>
        <p:spPr>
          <a:xfrm>
            <a:off x="889111" y="4324350"/>
            <a:ext cx="1108425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</a:rPr>
              <a:t>Бесплатный государственный сервис для жителей Республики Татарстан, в рамках которого жители могут решать жилищные вопросы и общаться с соседями.</a:t>
            </a:r>
            <a:endParaRPr lang="en-US" sz="3500" dirty="0"/>
          </a:p>
        </p:txBody>
      </p:sp>
      <p:pic>
        <p:nvPicPr>
          <p:cNvPr id="21" name="Image 2" descr=" ">
            <a:extLst>
              <a:ext uri="{FF2B5EF4-FFF2-40B4-BE49-F238E27FC236}">
                <a16:creationId xmlns:a16="http://schemas.microsoft.com/office/drawing/2014/main" id="{5F3EBF40-377B-413B-BB77-8A3B5B5DC1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22" name="Text 10">
            <a:extLst>
              <a:ext uri="{FF2B5EF4-FFF2-40B4-BE49-F238E27FC236}">
                <a16:creationId xmlns:a16="http://schemas.microsoft.com/office/drawing/2014/main" id="{7DC6C2D3-C8D9-4B11-8F17-64804723A5CA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78740898-D023-4837-AFD3-A8FDC3CD714F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4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864708" y="0"/>
            <a:ext cx="17058232" cy="13716000"/>
          </a:xfrm>
          <a:prstGeom prst="roundRect">
            <a:avLst>
              <a:gd name="adj" fmla="val 9267"/>
            </a:avLst>
          </a:prstGeom>
          <a:solidFill>
            <a:srgbClr val="F4F7FF">
              <a:alpha val="10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9111" y="2857500"/>
            <a:ext cx="10936067" cy="80010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889111" y="4318000"/>
            <a:ext cx="10936067" cy="65405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889111" y="4318000"/>
            <a:ext cx="10936067" cy="176530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889111" y="6362700"/>
            <a:ext cx="10466108" cy="4495800"/>
          </a:xfrm>
          <a:prstGeom prst="rect">
            <a:avLst/>
          </a:prstGeom>
          <a:noFill/>
          <a:ln/>
        </p:spPr>
      </p:sp>
      <p:pic>
        <p:nvPicPr>
          <p:cNvPr id="14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50781" y="3289300"/>
            <a:ext cx="11469534" cy="7124700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8653C125-4BA6-49EF-8032-0F5089F22FBE}"/>
              </a:ext>
            </a:extLst>
          </p:cNvPr>
          <p:cNvSpPr/>
          <p:nvPr/>
        </p:nvSpPr>
        <p:spPr>
          <a:xfrm>
            <a:off x="889111" y="1543050"/>
            <a:ext cx="11304413" cy="277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0"/>
              </a:lnSpc>
              <a:buNone/>
            </a:pPr>
            <a:r>
              <a:rPr lang="ru-RU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СИСТЕМА-АНАЛОГ «ВСЕ СОСЕДИ»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B371D0B7-1B3E-4762-BAB3-80F01337D911}"/>
              </a:ext>
            </a:extLst>
          </p:cNvPr>
          <p:cNvSpPr/>
          <p:nvPr/>
        </p:nvSpPr>
        <p:spPr>
          <a:xfrm>
            <a:off x="889111" y="6512636"/>
            <a:ext cx="11084252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Функционал системы:</a:t>
            </a:r>
            <a:endParaRPr lang="en-US" sz="35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F89E3467-5C52-4DE9-BC62-26E3366DF3F7}"/>
              </a:ext>
            </a:extLst>
          </p:cNvPr>
          <p:cNvSpPr/>
          <p:nvPr/>
        </p:nvSpPr>
        <p:spPr>
          <a:xfrm>
            <a:off x="889111" y="7185736"/>
            <a:ext cx="11084252" cy="124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buSzPct val="100000"/>
              <a:buChar char="•"/>
            </a:pP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онлайн-биржа;</a:t>
            </a:r>
            <a:endParaRPr lang="en-US" sz="3500" dirty="0"/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м</a:t>
            </a:r>
            <a:r>
              <a:rPr lang="en-US" sz="3500" dirty="0" err="1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ессенджер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;</a:t>
            </a:r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личный кабинет.</a:t>
            </a:r>
            <a:endParaRPr lang="en-US" sz="35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F00A8DDD-A5DF-461F-A655-1194EC952753}"/>
              </a:ext>
            </a:extLst>
          </p:cNvPr>
          <p:cNvSpPr/>
          <p:nvPr/>
        </p:nvSpPr>
        <p:spPr>
          <a:xfrm>
            <a:off x="889111" y="4324350"/>
            <a:ext cx="11084252" cy="203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</a:rPr>
              <a:t>Представляет из себя симбиоз (районной) социальной сети для соседей и онлайн-биржи услуг. </a:t>
            </a:r>
            <a:endParaRPr lang="en-US" sz="3500" dirty="0"/>
          </a:p>
        </p:txBody>
      </p:sp>
      <p:pic>
        <p:nvPicPr>
          <p:cNvPr id="25" name="Image 2" descr=" ">
            <a:extLst>
              <a:ext uri="{FF2B5EF4-FFF2-40B4-BE49-F238E27FC236}">
                <a16:creationId xmlns:a16="http://schemas.microsoft.com/office/drawing/2014/main" id="{33A290A6-62E2-4EF8-AE6A-1512245108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26" name="Text 10">
            <a:extLst>
              <a:ext uri="{FF2B5EF4-FFF2-40B4-BE49-F238E27FC236}">
                <a16:creationId xmlns:a16="http://schemas.microsoft.com/office/drawing/2014/main" id="{5286E6CB-9AF8-4B96-B641-4A1CA4410674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6BA8D1C3-081D-41DA-A0CE-7B3AEA06D643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67667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>
            <a:extLst>
              <a:ext uri="{FF2B5EF4-FFF2-40B4-BE49-F238E27FC236}">
                <a16:creationId xmlns:a16="http://schemas.microsoft.com/office/drawing/2014/main" id="{A69D16DE-27BD-4F48-8E9E-41B0ECFBACBD}"/>
              </a:ext>
            </a:extLst>
          </p:cNvPr>
          <p:cNvSpPr/>
          <p:nvPr/>
        </p:nvSpPr>
        <p:spPr>
          <a:xfrm>
            <a:off x="-4864708" y="0"/>
            <a:ext cx="17058232" cy="13716000"/>
          </a:xfrm>
          <a:prstGeom prst="roundRect">
            <a:avLst>
              <a:gd name="adj" fmla="val 9267"/>
            </a:avLst>
          </a:prstGeom>
          <a:solidFill>
            <a:srgbClr val="F4F7FF">
              <a:alpha val="100000"/>
            </a:srgbClr>
          </a:solidFill>
          <a:ln/>
        </p:spPr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57694D8A-F2DE-4709-8585-BD022E1C5E81}"/>
              </a:ext>
            </a:extLst>
          </p:cNvPr>
          <p:cNvSpPr/>
          <p:nvPr/>
        </p:nvSpPr>
        <p:spPr>
          <a:xfrm>
            <a:off x="889111" y="2857500"/>
            <a:ext cx="10936067" cy="8001000"/>
          </a:xfrm>
          <a:prstGeom prst="rect">
            <a:avLst/>
          </a:prstGeom>
          <a:noFill/>
          <a:ln/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00BA566-03EA-4186-90C9-45F08A254027}"/>
              </a:ext>
            </a:extLst>
          </p:cNvPr>
          <p:cNvSpPr/>
          <p:nvPr/>
        </p:nvSpPr>
        <p:spPr>
          <a:xfrm>
            <a:off x="889111" y="4318000"/>
            <a:ext cx="10936067" cy="6540500"/>
          </a:xfrm>
          <a:prstGeom prst="rect">
            <a:avLst/>
          </a:prstGeom>
          <a:noFill/>
          <a:ln/>
        </p:spPr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889D7DD5-A745-4711-A761-B5138CAEAC7A}"/>
              </a:ext>
            </a:extLst>
          </p:cNvPr>
          <p:cNvSpPr/>
          <p:nvPr/>
        </p:nvSpPr>
        <p:spPr>
          <a:xfrm>
            <a:off x="889111" y="4318000"/>
            <a:ext cx="10936067" cy="1765300"/>
          </a:xfrm>
          <a:prstGeom prst="rect">
            <a:avLst/>
          </a:prstGeom>
          <a:noFill/>
          <a:ln/>
        </p:spPr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714CCB02-C796-42FA-819D-1BEC135C254E}"/>
              </a:ext>
            </a:extLst>
          </p:cNvPr>
          <p:cNvSpPr/>
          <p:nvPr/>
        </p:nvSpPr>
        <p:spPr>
          <a:xfrm>
            <a:off x="889111" y="6362700"/>
            <a:ext cx="10466108" cy="4495800"/>
          </a:xfrm>
          <a:prstGeom prst="rect">
            <a:avLst/>
          </a:prstGeom>
          <a:noFill/>
          <a:ln/>
        </p:spPr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C7C5AA09-ACC1-4C59-B685-61954CDB2107}"/>
              </a:ext>
            </a:extLst>
          </p:cNvPr>
          <p:cNvSpPr/>
          <p:nvPr/>
        </p:nvSpPr>
        <p:spPr>
          <a:xfrm>
            <a:off x="889111" y="1543050"/>
            <a:ext cx="11304413" cy="277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0"/>
              </a:lnSpc>
              <a:buNone/>
            </a:pPr>
            <a:r>
              <a:rPr lang="ru-RU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СИСТЕМА-АНАЛОГ «ГОСУСЛУГИ ДОМ»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00E4C09B-4220-4720-AABD-EC58128E578C}"/>
              </a:ext>
            </a:extLst>
          </p:cNvPr>
          <p:cNvSpPr/>
          <p:nvPr/>
        </p:nvSpPr>
        <p:spPr>
          <a:xfrm>
            <a:off x="889111" y="6512636"/>
            <a:ext cx="11084252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Функционал системы:</a:t>
            </a:r>
            <a:endParaRPr lang="en-US" sz="35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0AC380F1-E461-4120-94F3-344FE8A4922C}"/>
              </a:ext>
            </a:extLst>
          </p:cNvPr>
          <p:cNvSpPr/>
          <p:nvPr/>
        </p:nvSpPr>
        <p:spPr>
          <a:xfrm>
            <a:off x="889111" y="7185736"/>
            <a:ext cx="11084252" cy="313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м</a:t>
            </a:r>
            <a:r>
              <a:rPr lang="en-US" sz="3500" dirty="0" err="1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ессенджер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;</a:t>
            </a:r>
            <a:endParaRPr lang="ru-RU" sz="3500" dirty="0">
              <a:solidFill>
                <a:srgbClr val="141414">
                  <a:alpha val="100000"/>
                </a:srgbClr>
              </a:solidFill>
              <a:latin typeface="Montserrat Regular" pitchFamily="34" charset="0"/>
              <a:ea typeface="Montserrat Regular" pitchFamily="34" charset="-122"/>
              <a:cs typeface="Montserrat Regular" pitchFamily="34" charset="-120"/>
            </a:endParaRPr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новостная лента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;</a:t>
            </a:r>
            <a:endParaRPr lang="ru-RU" sz="3500" dirty="0">
              <a:solidFill>
                <a:srgbClr val="141414">
                  <a:alpha val="100000"/>
                </a:srgbClr>
              </a:solidFill>
              <a:latin typeface="Montserrat Regular" pitchFamily="34" charset="0"/>
              <a:ea typeface="Montserrat Regular" pitchFamily="34" charset="-122"/>
              <a:cs typeface="Montserrat Regular" pitchFamily="34" charset="-120"/>
            </a:endParaRPr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сервисы ЖКХ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;</a:t>
            </a:r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личный кабинет.</a:t>
            </a:r>
            <a:endParaRPr lang="en-US" sz="35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489C0F3E-6411-4525-9C71-56E851E2A50E}"/>
              </a:ext>
            </a:extLst>
          </p:cNvPr>
          <p:cNvSpPr/>
          <p:nvPr/>
        </p:nvSpPr>
        <p:spPr>
          <a:xfrm>
            <a:off x="889111" y="4324350"/>
            <a:ext cx="11084252" cy="203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</a:rPr>
              <a:t>Приложение для собственником жилья в многоквартирных домах.</a:t>
            </a:r>
            <a:endParaRPr lang="en-US" sz="3500" dirty="0"/>
          </a:p>
        </p:txBody>
      </p:sp>
      <p:pic>
        <p:nvPicPr>
          <p:cNvPr id="30" name="Image 2" descr=" ">
            <a:extLst>
              <a:ext uri="{FF2B5EF4-FFF2-40B4-BE49-F238E27FC236}">
                <a16:creationId xmlns:a16="http://schemas.microsoft.com/office/drawing/2014/main" id="{56FB2C68-5E6B-4273-A4F4-63021C59A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31" name="Text 10">
            <a:extLst>
              <a:ext uri="{FF2B5EF4-FFF2-40B4-BE49-F238E27FC236}">
                <a16:creationId xmlns:a16="http://schemas.microsoft.com/office/drawing/2014/main" id="{3A5FF041-43D8-4B8B-B906-E2C137879E3A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C6C4515B-7189-41CC-99A9-103BCB710451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6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979F11B7-7657-43F2-836A-96467B636AD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3437"/>
          <a:stretch/>
        </p:blipFill>
        <p:spPr>
          <a:xfrm>
            <a:off x="12585407" y="835025"/>
            <a:ext cx="11801641" cy="1105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54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8202BE6A-1C2D-4A2D-891E-FCC296461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9273"/>
              </p:ext>
            </p:extLst>
          </p:nvPr>
        </p:nvGraphicFramePr>
        <p:xfrm>
          <a:off x="2097740" y="3603812"/>
          <a:ext cx="20533660" cy="878003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613308">
                  <a:extLst>
                    <a:ext uri="{9D8B030D-6E8A-4147-A177-3AD203B41FA5}">
                      <a16:colId xmlns:a16="http://schemas.microsoft.com/office/drawing/2014/main" val="1105042912"/>
                    </a:ext>
                  </a:extLst>
                </a:gridCol>
                <a:gridCol w="4653522">
                  <a:extLst>
                    <a:ext uri="{9D8B030D-6E8A-4147-A177-3AD203B41FA5}">
                      <a16:colId xmlns:a16="http://schemas.microsoft.com/office/drawing/2014/main" val="340158805"/>
                    </a:ext>
                  </a:extLst>
                </a:gridCol>
                <a:gridCol w="5133415">
                  <a:extLst>
                    <a:ext uri="{9D8B030D-6E8A-4147-A177-3AD203B41FA5}">
                      <a16:colId xmlns:a16="http://schemas.microsoft.com/office/drawing/2014/main" val="4235891077"/>
                    </a:ext>
                  </a:extLst>
                </a:gridCol>
                <a:gridCol w="5133415">
                  <a:extLst>
                    <a:ext uri="{9D8B030D-6E8A-4147-A177-3AD203B41FA5}">
                      <a16:colId xmlns:a16="http://schemas.microsoft.com/office/drawing/2014/main" val="3049429683"/>
                    </a:ext>
                  </a:extLst>
                </a:gridCol>
              </a:tblGrid>
              <a:tr h="971774">
                <a:tc>
                  <a:txBody>
                    <a:bodyPr/>
                    <a:lstStyle/>
                    <a:p>
                      <a:endParaRPr lang="ru-RU" dirty="0">
                        <a:latin typeface="Montserrat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500" b="1" kern="1200" dirty="0" err="1">
                          <a:solidFill>
                            <a:schemeClr val="lt1"/>
                          </a:solidFill>
                          <a:effectLst/>
                          <a:latin typeface="Montserrat" pitchFamily="2" charset="-52"/>
                        </a:rPr>
                        <a:t>Локоло</a:t>
                      </a:r>
                      <a:endParaRPr lang="ru-RU" sz="25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500" b="1" kern="1200" dirty="0">
                          <a:solidFill>
                            <a:schemeClr val="lt1"/>
                          </a:solidFill>
                          <a:effectLst/>
                          <a:latin typeface="Montserrat" pitchFamily="2" charset="-52"/>
                        </a:rPr>
                        <a:t>Все соседи</a:t>
                      </a:r>
                      <a:endParaRPr lang="ru-RU" sz="25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500" dirty="0">
                          <a:latin typeface="Montserrat" pitchFamily="2" charset="-52"/>
                        </a:rPr>
                        <a:t>Госуслуги Дом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0469425"/>
                  </a:ext>
                </a:extLst>
              </a:tr>
              <a:tr h="971774">
                <a:tc>
                  <a:txBody>
                    <a:bodyPr/>
                    <a:lstStyle/>
                    <a:p>
                      <a:r>
                        <a:rPr lang="ru-RU" sz="25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Услуги ЖКХ </a:t>
                      </a:r>
                      <a:endParaRPr lang="ru-RU" sz="2500" dirty="0">
                        <a:latin typeface="Montserrat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latin typeface="Montserrat" pitchFamily="2" charset="-52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–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553657"/>
                  </a:ext>
                </a:extLst>
              </a:tr>
              <a:tr h="971774">
                <a:tc>
                  <a:txBody>
                    <a:bodyPr/>
                    <a:lstStyle/>
                    <a:p>
                      <a:r>
                        <a:rPr lang="ru-RU" sz="2500" dirty="0">
                          <a:latin typeface="Montserrat" pitchFamily="2" charset="-52"/>
                        </a:rPr>
                        <a:t>Создание чата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–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365458"/>
                  </a:ext>
                </a:extLst>
              </a:tr>
              <a:tr h="971774">
                <a:tc>
                  <a:txBody>
                    <a:bodyPr/>
                    <a:lstStyle/>
                    <a:p>
                      <a:r>
                        <a:rPr lang="ru-RU" sz="2500" dirty="0">
                          <a:latin typeface="Montserrat" pitchFamily="2" charset="-52"/>
                        </a:rPr>
                        <a:t>Создание диалога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5031084"/>
                  </a:ext>
                </a:extLst>
              </a:tr>
              <a:tr h="971774">
                <a:tc>
                  <a:txBody>
                    <a:bodyPr/>
                    <a:lstStyle/>
                    <a:p>
                      <a:r>
                        <a:rPr lang="ru-RU" sz="2500" dirty="0">
                          <a:latin typeface="Montserrat" pitchFamily="2" charset="-52"/>
                        </a:rPr>
                        <a:t>Канал связи с УК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000" dirty="0"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0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–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0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684738"/>
                  </a:ext>
                </a:extLst>
              </a:tr>
              <a:tr h="9717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500" dirty="0">
                          <a:latin typeface="Montserrat" pitchFamily="2" charset="-52"/>
                        </a:rPr>
                        <a:t>Личный кабинет пользователя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0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  <a:p>
                      <a:pPr algn="ctr"/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000" dirty="0">
                          <a:latin typeface="Montserrat" pitchFamily="2" charset="-52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000" dirty="0">
                          <a:latin typeface="Montserrat" pitchFamily="2" charset="-52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633962"/>
                  </a:ext>
                </a:extLst>
              </a:tr>
              <a:tr h="971774">
                <a:tc>
                  <a:txBody>
                    <a:bodyPr/>
                    <a:lstStyle/>
                    <a:p>
                      <a:r>
                        <a:rPr lang="ru-RU" sz="2500" dirty="0">
                          <a:latin typeface="Montserrat" pitchFamily="2" charset="-52"/>
                        </a:rPr>
                        <a:t>Реклама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891482"/>
                  </a:ext>
                </a:extLst>
              </a:tr>
              <a:tr h="971774">
                <a:tc>
                  <a:txBody>
                    <a:bodyPr/>
                    <a:lstStyle/>
                    <a:p>
                      <a:r>
                        <a:rPr lang="ru-RU" sz="25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Территориальная ограниченность субъектом</a:t>
                      </a:r>
                      <a:endParaRPr lang="ru-RU" sz="2500" dirty="0">
                        <a:latin typeface="Montserrat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0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+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–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–</a:t>
                      </a:r>
                      <a:endParaRPr lang="ru-RU" sz="30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793759"/>
                  </a:ext>
                </a:extLst>
              </a:tr>
              <a:tr h="971774">
                <a:tc>
                  <a:txBody>
                    <a:bodyPr/>
                    <a:lstStyle/>
                    <a:p>
                      <a:r>
                        <a:rPr lang="ru-RU" sz="25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</a:rPr>
                        <a:t>Понятность интерфейса (1-5)</a:t>
                      </a:r>
                      <a:endParaRPr lang="ru-RU" sz="2500" dirty="0">
                        <a:latin typeface="Montserrat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latin typeface="Montserrat" pitchFamily="2" charset="-52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latin typeface="Montserrat" pitchFamily="2" charset="-5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000" dirty="0">
                          <a:latin typeface="Montserrat" pitchFamily="2" charset="-52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2151953"/>
                  </a:ext>
                </a:extLst>
              </a:tr>
            </a:tbl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4B919781-532D-464A-9EDD-11A168AC5CD9}"/>
              </a:ext>
            </a:extLst>
          </p:cNvPr>
          <p:cNvSpPr/>
          <p:nvPr/>
        </p:nvSpPr>
        <p:spPr>
          <a:xfrm>
            <a:off x="3973480" y="548591"/>
            <a:ext cx="16440088" cy="289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ru-RU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СРАВНИТЕЛЬНЫЙ АНАЛИЗ СИСТЕМ-АНАЛОГОВ</a:t>
            </a:r>
            <a:endParaRPr lang="en-US" sz="8500" dirty="0">
              <a:latin typeface="Gropled" pitchFamily="50" charset="0"/>
            </a:endParaRP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D22EF80F-D500-4521-A69C-1F33FEDC7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7" name="Text 10">
            <a:extLst>
              <a:ext uri="{FF2B5EF4-FFF2-40B4-BE49-F238E27FC236}">
                <a16:creationId xmlns:a16="http://schemas.microsoft.com/office/drawing/2014/main" id="{0012C4FA-AC1C-4C66-A552-097B9DF31B35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2C0229C5-7965-404E-919E-B58721B1EC2B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7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91492"/>
            <a:ext cx="24387048" cy="1683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СТРУКТУРНАЯ</a:t>
            </a:r>
            <a:r>
              <a:rPr lang="ru-RU" sz="8500" dirty="0">
                <a:latin typeface="Gropled" pitchFamily="50" charset="0"/>
              </a:rPr>
              <a:t> </a:t>
            </a: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СХЕМА СИСТЕМ</a:t>
            </a:r>
            <a:r>
              <a:rPr lang="ru-RU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Ы</a:t>
            </a:r>
            <a:endParaRPr lang="en-US" sz="8500" dirty="0">
              <a:latin typeface="Gropled" pitchFamily="50" charset="0"/>
            </a:endParaRPr>
          </a:p>
        </p:txBody>
      </p:sp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0AD6563C-E140-44D9-B874-26213E333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10" name="Text 10">
            <a:extLst>
              <a:ext uri="{FF2B5EF4-FFF2-40B4-BE49-F238E27FC236}">
                <a16:creationId xmlns:a16="http://schemas.microsoft.com/office/drawing/2014/main" id="{9FFC1188-FD24-4BA8-834F-59D6222461F6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0DC0EC87-14CF-40AB-AC24-1D25C481B2FC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8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79FC6C-CDEC-42E9-B016-6B6DB5037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906" y="2388638"/>
            <a:ext cx="16671236" cy="9692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" y="770217"/>
            <a:ext cx="24387174" cy="416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ДИАГРАММА</a:t>
            </a:r>
            <a:r>
              <a:rPr lang="ru-RU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 </a:t>
            </a: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ВАРИАНТОВ ИСПОЛЬЗОВАНИЯ
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673033" y="2232268"/>
            <a:ext cx="9040978" cy="554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Неавторизованный пользователь</a:t>
            </a:r>
            <a:endParaRPr lang="en-US" sz="3500" dirty="0"/>
          </a:p>
        </p:txBody>
      </p:sp>
      <p:pic>
        <p:nvPicPr>
          <p:cNvPr id="7" name="Image 2" descr=" ">
            <a:extLst>
              <a:ext uri="{FF2B5EF4-FFF2-40B4-BE49-F238E27FC236}">
                <a16:creationId xmlns:a16="http://schemas.microsoft.com/office/drawing/2014/main" id="{ABAF8C77-A83B-4506-A45F-E4E40EF97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8" name="Text 10">
            <a:extLst>
              <a:ext uri="{FF2B5EF4-FFF2-40B4-BE49-F238E27FC236}">
                <a16:creationId xmlns:a16="http://schemas.microsoft.com/office/drawing/2014/main" id="{DF62F791-7EB5-45DB-B41A-5039652CBD66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2A6BC132-0691-4C03-A1F7-D0D638B34376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9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DBDC158-9F4B-450D-AB52-762829F2C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0764" y="3194913"/>
            <a:ext cx="19165645" cy="8667879"/>
          </a:xfrm>
          <a:prstGeom prst="rect">
            <a:avLst/>
          </a:prstGeom>
        </p:spPr>
      </p:pic>
      <p:sp>
        <p:nvSpPr>
          <p:cNvPr id="10" name="Овал 9">
            <a:extLst>
              <a:ext uri="{FF2B5EF4-FFF2-40B4-BE49-F238E27FC236}">
                <a16:creationId xmlns:a16="http://schemas.microsoft.com/office/drawing/2014/main" id="{803F3E17-8BAE-4E75-A994-8751322D26BA}"/>
              </a:ext>
            </a:extLst>
          </p:cNvPr>
          <p:cNvSpPr/>
          <p:nvPr/>
        </p:nvSpPr>
        <p:spPr>
          <a:xfrm>
            <a:off x="7673033" y="3368487"/>
            <a:ext cx="5547131" cy="2300725"/>
          </a:xfrm>
          <a:prstGeom prst="ellipse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5B34C7E4-1B04-4A81-B559-BE3C329D84E7}"/>
              </a:ext>
            </a:extLst>
          </p:cNvPr>
          <p:cNvSpPr/>
          <p:nvPr/>
        </p:nvSpPr>
        <p:spPr>
          <a:xfrm>
            <a:off x="15047327" y="3520887"/>
            <a:ext cx="5547131" cy="2300725"/>
          </a:xfrm>
          <a:prstGeom prst="ellipse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8703731-3368-4F76-95AC-719915CF29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31"/>
          <a:stretch/>
        </p:blipFill>
        <p:spPr>
          <a:xfrm>
            <a:off x="2710563" y="2745833"/>
            <a:ext cx="19227174" cy="971666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" y="770218"/>
            <a:ext cx="24387174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ДИАГРАММА</a:t>
            </a:r>
            <a:r>
              <a:rPr lang="ru-RU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 </a:t>
            </a: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ВАРИАНТОВ ИСПОЛЬЗОВАНИЯ
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850871" y="2214684"/>
            <a:ext cx="10685305" cy="587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Собственник и Управляющая компания</a:t>
            </a:r>
            <a:endParaRPr lang="en-US" sz="3500" dirty="0"/>
          </a:p>
        </p:txBody>
      </p:sp>
      <p:pic>
        <p:nvPicPr>
          <p:cNvPr id="7" name="Image 2" descr=" ">
            <a:extLst>
              <a:ext uri="{FF2B5EF4-FFF2-40B4-BE49-F238E27FC236}">
                <a16:creationId xmlns:a16="http://schemas.microsoft.com/office/drawing/2014/main" id="{ABAF8C77-A83B-4506-A45F-E4E40EF979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8" name="Text 10">
            <a:extLst>
              <a:ext uri="{FF2B5EF4-FFF2-40B4-BE49-F238E27FC236}">
                <a16:creationId xmlns:a16="http://schemas.microsoft.com/office/drawing/2014/main" id="{DF62F791-7EB5-45DB-B41A-5039652CBD66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2A6BC132-0691-4C03-A1F7-D0D638B34376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10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871E07D1-89DA-43E8-9111-8AF0C09EFFA9}"/>
              </a:ext>
            </a:extLst>
          </p:cNvPr>
          <p:cNvSpPr/>
          <p:nvPr/>
        </p:nvSpPr>
        <p:spPr>
          <a:xfrm>
            <a:off x="7329114" y="4744014"/>
            <a:ext cx="3419751" cy="1346200"/>
          </a:xfrm>
          <a:prstGeom prst="ellipse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0651A62D-7842-4C1D-9203-AE9A908A2542}"/>
              </a:ext>
            </a:extLst>
          </p:cNvPr>
          <p:cNvSpPr/>
          <p:nvPr/>
        </p:nvSpPr>
        <p:spPr>
          <a:xfrm>
            <a:off x="10614274" y="5569514"/>
            <a:ext cx="3419751" cy="1346200"/>
          </a:xfrm>
          <a:prstGeom prst="ellipse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AA93E4A3-1947-495C-AECC-FFCD83FE815A}"/>
              </a:ext>
            </a:extLst>
          </p:cNvPr>
          <p:cNvSpPr/>
          <p:nvPr/>
        </p:nvSpPr>
        <p:spPr>
          <a:xfrm>
            <a:off x="13324837" y="6589928"/>
            <a:ext cx="3419751" cy="1346200"/>
          </a:xfrm>
          <a:prstGeom prst="ellipse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0B85B96B-832C-4010-A248-F08D39A44464}"/>
              </a:ext>
            </a:extLst>
          </p:cNvPr>
          <p:cNvSpPr/>
          <p:nvPr/>
        </p:nvSpPr>
        <p:spPr>
          <a:xfrm>
            <a:off x="11357994" y="8041047"/>
            <a:ext cx="3933686" cy="1812079"/>
          </a:xfrm>
          <a:prstGeom prst="ellipse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5488D67E-9BE4-4E70-A68E-14ECDF273FC7}"/>
              </a:ext>
            </a:extLst>
          </p:cNvPr>
          <p:cNvSpPr/>
          <p:nvPr/>
        </p:nvSpPr>
        <p:spPr>
          <a:xfrm>
            <a:off x="8890021" y="9299382"/>
            <a:ext cx="3284904" cy="1346199"/>
          </a:xfrm>
          <a:prstGeom prst="ellipse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4C94741B-CF12-459F-BF79-1C60B2929AA4}"/>
              </a:ext>
            </a:extLst>
          </p:cNvPr>
          <p:cNvSpPr/>
          <p:nvPr/>
        </p:nvSpPr>
        <p:spPr>
          <a:xfrm>
            <a:off x="6523155" y="10797981"/>
            <a:ext cx="3284904" cy="1346199"/>
          </a:xfrm>
          <a:prstGeom prst="ellipse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831A4B45-74E7-483B-A5EC-BB5E0C702FFD}"/>
              </a:ext>
            </a:extLst>
          </p:cNvPr>
          <p:cNvSpPr/>
          <p:nvPr/>
        </p:nvSpPr>
        <p:spPr>
          <a:xfrm>
            <a:off x="2762410" y="10723942"/>
            <a:ext cx="3671576" cy="1664519"/>
          </a:xfrm>
          <a:prstGeom prst="ellipse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76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A444949-F469-4DB2-BE2E-91C986AA8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279" y="2583745"/>
            <a:ext cx="19565201" cy="9987139"/>
          </a:xfrm>
          <a:prstGeom prst="rect">
            <a:avLst/>
          </a:prstGeom>
        </p:spPr>
      </p:pic>
      <p:pic>
        <p:nvPicPr>
          <p:cNvPr id="7" name="Image 2" descr=" ">
            <a:extLst>
              <a:ext uri="{FF2B5EF4-FFF2-40B4-BE49-F238E27FC236}">
                <a16:creationId xmlns:a16="http://schemas.microsoft.com/office/drawing/2014/main" id="{87FC62E7-F266-4D8B-9E02-A70A032E0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973543" y="801874"/>
            <a:ext cx="16440088" cy="289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ДИАГРАММА СОСТОЯНИЙ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136020" y="2222500"/>
            <a:ext cx="12115007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Режим работы неавторизованного пользователя</a:t>
            </a:r>
            <a:endParaRPr lang="en-US" sz="35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2626C5E0-7FCC-4976-97AD-D459D75AB8F1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0F6EFDE9-5A2F-4563-82A7-0B85C57F37EB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11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7D69CF5-5DA0-4F83-82ED-742A0FCA8765}"/>
              </a:ext>
            </a:extLst>
          </p:cNvPr>
          <p:cNvSpPr/>
          <p:nvPr/>
        </p:nvSpPr>
        <p:spPr>
          <a:xfrm>
            <a:off x="3364667" y="6825019"/>
            <a:ext cx="5474972" cy="1346201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4AC27A1-5737-4F65-A35B-6160178DE90B}"/>
              </a:ext>
            </a:extLst>
          </p:cNvPr>
          <p:cNvSpPr/>
          <p:nvPr/>
        </p:nvSpPr>
        <p:spPr>
          <a:xfrm>
            <a:off x="8928628" y="6495705"/>
            <a:ext cx="4584172" cy="186936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5CFB051-BC5D-486A-B998-9457C90C3D0B}"/>
              </a:ext>
            </a:extLst>
          </p:cNvPr>
          <p:cNvSpPr/>
          <p:nvPr/>
        </p:nvSpPr>
        <p:spPr>
          <a:xfrm>
            <a:off x="15469968" y="5163096"/>
            <a:ext cx="3867899" cy="3008124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A85F57B-D19F-4466-AE4F-7DAAEECD0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281" y="3271330"/>
            <a:ext cx="19548611" cy="8668093"/>
          </a:xfrm>
          <a:prstGeom prst="rect">
            <a:avLst/>
          </a:prstGeom>
        </p:spPr>
      </p:pic>
      <p:pic>
        <p:nvPicPr>
          <p:cNvPr id="7" name="Image 2" descr=" ">
            <a:extLst>
              <a:ext uri="{FF2B5EF4-FFF2-40B4-BE49-F238E27FC236}">
                <a16:creationId xmlns:a16="http://schemas.microsoft.com/office/drawing/2014/main" id="{87FC62E7-F266-4D8B-9E02-A70A032E0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973543" y="801874"/>
            <a:ext cx="16440088" cy="289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ДИАГРАММА СОСТОЯНИЙ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084573" y="2222500"/>
            <a:ext cx="16217901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Режим работы авторизованного пользователя «Собственник»</a:t>
            </a:r>
            <a:endParaRPr lang="en-US" sz="35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2626C5E0-7FCC-4976-97AD-D459D75AB8F1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0F6EFDE9-5A2F-4563-82A7-0B85C57F37EB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12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091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3543" y="801874"/>
            <a:ext cx="16440088" cy="289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ДИАГРАММА СОСТОЯНИЙ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3434429" y="12687300"/>
            <a:ext cx="749394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dirty="0">
                <a:solidFill>
                  <a:srgbClr val="FFFFFF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r>
              <a:rPr lang="ru-RU" sz="4500" dirty="0">
                <a:solidFill>
                  <a:srgbClr val="FFFFFF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4500" dirty="0"/>
          </a:p>
        </p:txBody>
      </p:sp>
      <p:sp>
        <p:nvSpPr>
          <p:cNvPr id="6" name="Text 2"/>
          <p:cNvSpPr/>
          <p:nvPr/>
        </p:nvSpPr>
        <p:spPr>
          <a:xfrm>
            <a:off x="3251927" y="2251790"/>
            <a:ext cx="1788319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Режим работы авторизованного пользователя «Управляющая компания»</a:t>
            </a:r>
            <a:endParaRPr lang="en-US" sz="35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142E04-4083-486E-9048-C2FE100DA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066" y="3149257"/>
            <a:ext cx="20709041" cy="9133758"/>
          </a:xfrm>
          <a:prstGeom prst="rect">
            <a:avLst/>
          </a:prstGeom>
        </p:spPr>
      </p:pic>
      <p:pic>
        <p:nvPicPr>
          <p:cNvPr id="7" name="Image 2" descr=" ">
            <a:extLst>
              <a:ext uri="{FF2B5EF4-FFF2-40B4-BE49-F238E27FC236}">
                <a16:creationId xmlns:a16="http://schemas.microsoft.com/office/drawing/2014/main" id="{87FC62E7-F266-4D8B-9E02-A70A032E0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8" name="Text 10">
            <a:extLst>
              <a:ext uri="{FF2B5EF4-FFF2-40B4-BE49-F238E27FC236}">
                <a16:creationId xmlns:a16="http://schemas.microsoft.com/office/drawing/2014/main" id="{2626C5E0-7FCC-4976-97AD-D459D75AB8F1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0F6EFDE9-5A2F-4563-82A7-0B85C57F37EB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13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15200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B77835-2963-4217-AC93-7DF1ECEBD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187" y="2183363"/>
            <a:ext cx="14354799" cy="1018643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114189" y="801874"/>
            <a:ext cx="18158669" cy="289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ru-RU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ЛОГИЧЕСКАЯ МОДЕЛЬ ДАННЫХ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3434429" y="12687300"/>
            <a:ext cx="749394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500" dirty="0">
                <a:solidFill>
                  <a:srgbClr val="FFFFFF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r>
              <a:rPr lang="ru-RU" sz="4500" dirty="0">
                <a:solidFill>
                  <a:srgbClr val="FFFFFF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4500" dirty="0"/>
          </a:p>
        </p:txBody>
      </p:sp>
      <p:pic>
        <p:nvPicPr>
          <p:cNvPr id="7" name="Image 2" descr=" ">
            <a:extLst>
              <a:ext uri="{FF2B5EF4-FFF2-40B4-BE49-F238E27FC236}">
                <a16:creationId xmlns:a16="http://schemas.microsoft.com/office/drawing/2014/main" id="{87FC62E7-F266-4D8B-9E02-A70A032E0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8" name="Text 10">
            <a:extLst>
              <a:ext uri="{FF2B5EF4-FFF2-40B4-BE49-F238E27FC236}">
                <a16:creationId xmlns:a16="http://schemas.microsoft.com/office/drawing/2014/main" id="{2626C5E0-7FCC-4976-97AD-D459D75AB8F1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0F6EFDE9-5A2F-4563-82A7-0B85C57F37EB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14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48472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973480" y="730059"/>
            <a:ext cx="16440088" cy="162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ДЕМОНСТРАЦИЯ РАБОТЫ</a:t>
            </a:r>
            <a:endParaRPr lang="en-US" sz="8500" dirty="0">
              <a:latin typeface="Gropled" pitchFamily="50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47CA88F-9C01-4788-A3DF-384C86E1A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861" y="3149257"/>
            <a:ext cx="18185324" cy="903381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2A1C459B-C776-4334-B92F-E037872D7C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9" name="Text 10">
            <a:extLst>
              <a:ext uri="{FF2B5EF4-FFF2-40B4-BE49-F238E27FC236}">
                <a16:creationId xmlns:a16="http://schemas.microsoft.com/office/drawing/2014/main" id="{67DB3178-C05D-4B4B-BC23-8492690AF184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C744489E-CF6A-46F5-88E9-CDD9D96C3A54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15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3FDE5FA-F8D9-4C9E-BE59-E0F98D3ED761}"/>
              </a:ext>
            </a:extLst>
          </p:cNvPr>
          <p:cNvSpPr/>
          <p:nvPr/>
        </p:nvSpPr>
        <p:spPr>
          <a:xfrm>
            <a:off x="3251927" y="2251790"/>
            <a:ext cx="1788319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</a:rPr>
              <a:t>Главная страница неавторизованного пользователя</a:t>
            </a:r>
            <a:endParaRPr lang="en-US" sz="3500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FF4F5D8-DFEA-4041-9E20-0F47AFB868BC}"/>
              </a:ext>
            </a:extLst>
          </p:cNvPr>
          <p:cNvSpPr/>
          <p:nvPr/>
        </p:nvSpPr>
        <p:spPr>
          <a:xfrm>
            <a:off x="3218060" y="3039190"/>
            <a:ext cx="2317806" cy="919099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63CB28A-80A3-4FA4-8B37-464A25AA285A}"/>
              </a:ext>
            </a:extLst>
          </p:cNvPr>
          <p:cNvSpPr/>
          <p:nvPr/>
        </p:nvSpPr>
        <p:spPr>
          <a:xfrm>
            <a:off x="18157043" y="3056124"/>
            <a:ext cx="3012072" cy="964856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75466AB2-9B98-4E48-844E-ACBC2BD44886}"/>
              </a:ext>
            </a:extLst>
          </p:cNvPr>
          <p:cNvSpPr/>
          <p:nvPr/>
        </p:nvSpPr>
        <p:spPr>
          <a:xfrm>
            <a:off x="3296029" y="8567238"/>
            <a:ext cx="5170638" cy="964856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571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D65D88-89DB-4F66-97F1-430463D7E3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00" b="3652"/>
          <a:stretch/>
        </p:blipFill>
        <p:spPr>
          <a:xfrm>
            <a:off x="12193587" y="3096276"/>
            <a:ext cx="7222517" cy="9624108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32466A9D-50EC-4AD8-AA61-44F9B240A562}"/>
              </a:ext>
            </a:extLst>
          </p:cNvPr>
          <p:cNvSpPr/>
          <p:nvPr/>
        </p:nvSpPr>
        <p:spPr>
          <a:xfrm>
            <a:off x="3973480" y="730059"/>
            <a:ext cx="16440088" cy="162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ДЕМОНСТРАЦИЯ РАБОТЫ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F2913EFA-1EEF-459A-8051-22F1053DA6BA}"/>
              </a:ext>
            </a:extLst>
          </p:cNvPr>
          <p:cNvSpPr/>
          <p:nvPr/>
        </p:nvSpPr>
        <p:spPr>
          <a:xfrm>
            <a:off x="3251927" y="2251790"/>
            <a:ext cx="1788319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</a:rPr>
              <a:t>Формы авторизации и регистрации</a:t>
            </a:r>
            <a:endParaRPr lang="en-US" sz="3500" dirty="0"/>
          </a:p>
        </p:txBody>
      </p:sp>
      <p:pic>
        <p:nvPicPr>
          <p:cNvPr id="15" name="Image 2" descr=" ">
            <a:extLst>
              <a:ext uri="{FF2B5EF4-FFF2-40B4-BE49-F238E27FC236}">
                <a16:creationId xmlns:a16="http://schemas.microsoft.com/office/drawing/2014/main" id="{E153E2E8-0C74-409A-80AE-9D48E6D86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BF78B795-5045-492D-869F-EE216D96E892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6B88ACA-D490-4682-A6A8-DEC2CC43C7B1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16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25</a:t>
            </a:r>
            <a:endParaRPr lang="en-US" sz="3500" dirty="0">
              <a:latin typeface="Montserrat Light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5C54FE-949B-45B3-8820-BDCDA1AE64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6531" y="4467788"/>
            <a:ext cx="8667056" cy="606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09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1">
            <a:extLst>
              <a:ext uri="{FF2B5EF4-FFF2-40B4-BE49-F238E27FC236}">
                <a16:creationId xmlns:a16="http://schemas.microsoft.com/office/drawing/2014/main" id="{A670C3CC-5BFF-4675-99A5-74566D003A3D}"/>
              </a:ext>
            </a:extLst>
          </p:cNvPr>
          <p:cNvSpPr/>
          <p:nvPr/>
        </p:nvSpPr>
        <p:spPr>
          <a:xfrm>
            <a:off x="3973480" y="730059"/>
            <a:ext cx="16440088" cy="162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ДЕМОНСТРАЦИЯ РАБОТЫ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54C0763-C505-4E1E-8068-4D1198EA9D76}"/>
              </a:ext>
            </a:extLst>
          </p:cNvPr>
          <p:cNvSpPr/>
          <p:nvPr/>
        </p:nvSpPr>
        <p:spPr>
          <a:xfrm>
            <a:off x="3251927" y="2251790"/>
            <a:ext cx="1788319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</a:rPr>
              <a:t>Главная страница авторизованного пользователя</a:t>
            </a:r>
            <a:endParaRPr lang="en-US" sz="3500" dirty="0"/>
          </a:p>
        </p:txBody>
      </p:sp>
      <p:pic>
        <p:nvPicPr>
          <p:cNvPr id="11" name="Image 2" descr=" ">
            <a:extLst>
              <a:ext uri="{FF2B5EF4-FFF2-40B4-BE49-F238E27FC236}">
                <a16:creationId xmlns:a16="http://schemas.microsoft.com/office/drawing/2014/main" id="{050430F9-198D-4320-B177-7E36DAD40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B85801A5-FB29-4A32-9BC3-3933D70A8277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FF1DBA0-2639-4062-8A15-8048F0DD656C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17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25</a:t>
            </a:r>
            <a:endParaRPr lang="en-US" sz="3500" dirty="0">
              <a:latin typeface="Montserrat Light" pitchFamily="2" charset="-52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604A3C5-0EC6-4829-B769-09E67F29A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3784" y="2865525"/>
            <a:ext cx="18999477" cy="945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403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1">
            <a:extLst>
              <a:ext uri="{FF2B5EF4-FFF2-40B4-BE49-F238E27FC236}">
                <a16:creationId xmlns:a16="http://schemas.microsoft.com/office/drawing/2014/main" id="{A670C3CC-5BFF-4675-99A5-74566D003A3D}"/>
              </a:ext>
            </a:extLst>
          </p:cNvPr>
          <p:cNvSpPr/>
          <p:nvPr/>
        </p:nvSpPr>
        <p:spPr>
          <a:xfrm>
            <a:off x="3973480" y="730059"/>
            <a:ext cx="16440088" cy="162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ДЕМОНСТРАЦИЯ РАБОТЫ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54C0763-C505-4E1E-8068-4D1198EA9D76}"/>
              </a:ext>
            </a:extLst>
          </p:cNvPr>
          <p:cNvSpPr/>
          <p:nvPr/>
        </p:nvSpPr>
        <p:spPr>
          <a:xfrm>
            <a:off x="3251927" y="2251790"/>
            <a:ext cx="1788319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</a:rPr>
              <a:t>Мессенджер</a:t>
            </a:r>
            <a:endParaRPr lang="en-US" sz="3500" dirty="0"/>
          </a:p>
        </p:txBody>
      </p:sp>
      <p:pic>
        <p:nvPicPr>
          <p:cNvPr id="11" name="Image 2" descr=" ">
            <a:extLst>
              <a:ext uri="{FF2B5EF4-FFF2-40B4-BE49-F238E27FC236}">
                <a16:creationId xmlns:a16="http://schemas.microsoft.com/office/drawing/2014/main" id="{050430F9-198D-4320-B177-7E36DAD40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B85801A5-FB29-4A32-9BC3-3933D70A8277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FF1DBA0-2639-4062-8A15-8048F0DD656C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18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25</a:t>
            </a:r>
            <a:endParaRPr lang="en-US" sz="3500" dirty="0">
              <a:latin typeface="Montserrat Light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B51BCC-596B-4CFE-A8C4-E70388340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3835" y="2920657"/>
            <a:ext cx="18879375" cy="934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522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1">
            <a:extLst>
              <a:ext uri="{FF2B5EF4-FFF2-40B4-BE49-F238E27FC236}">
                <a16:creationId xmlns:a16="http://schemas.microsoft.com/office/drawing/2014/main" id="{A670C3CC-5BFF-4675-99A5-74566D003A3D}"/>
              </a:ext>
            </a:extLst>
          </p:cNvPr>
          <p:cNvSpPr/>
          <p:nvPr/>
        </p:nvSpPr>
        <p:spPr>
          <a:xfrm>
            <a:off x="3973480" y="730059"/>
            <a:ext cx="16440088" cy="162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ДЕМОНСТРАЦИЯ РАБОТЫ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54C0763-C505-4E1E-8068-4D1198EA9D76}"/>
              </a:ext>
            </a:extLst>
          </p:cNvPr>
          <p:cNvSpPr/>
          <p:nvPr/>
        </p:nvSpPr>
        <p:spPr>
          <a:xfrm>
            <a:off x="3251927" y="2251790"/>
            <a:ext cx="1788319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</a:rPr>
              <a:t>Мессенджер</a:t>
            </a:r>
            <a:endParaRPr lang="en-US" sz="3500" dirty="0"/>
          </a:p>
        </p:txBody>
      </p:sp>
      <p:pic>
        <p:nvPicPr>
          <p:cNvPr id="11" name="Image 2" descr=" ">
            <a:extLst>
              <a:ext uri="{FF2B5EF4-FFF2-40B4-BE49-F238E27FC236}">
                <a16:creationId xmlns:a16="http://schemas.microsoft.com/office/drawing/2014/main" id="{050430F9-198D-4320-B177-7E36DAD40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B85801A5-FB29-4A32-9BC3-3933D70A8277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FF1DBA0-2639-4062-8A15-8048F0DD656C}"/>
              </a:ext>
            </a:extLst>
          </p:cNvPr>
          <p:cNvSpPr/>
          <p:nvPr/>
        </p:nvSpPr>
        <p:spPr>
          <a:xfrm>
            <a:off x="22590596" y="12750800"/>
            <a:ext cx="1370418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19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25</a:t>
            </a:r>
            <a:endParaRPr lang="en-US" sz="3500" dirty="0">
              <a:latin typeface="Montserrat Light" pitchFamily="2" charset="-52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B6DF8DE-50A3-4794-B073-F17415090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831" y="8710906"/>
            <a:ext cx="23591512" cy="324446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FD3D536-124F-4C85-A489-8981ACC76C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60" y="4509629"/>
            <a:ext cx="23563183" cy="302704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2AD60D3-EFC1-4016-A4B4-99F3B78376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111" y="2885647"/>
            <a:ext cx="6192199" cy="655724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7C82F09-6323-494A-89D5-028DA480C2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1861" y="3335392"/>
            <a:ext cx="9505965" cy="302704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12DFFAB-8F33-4C3B-B5F4-427A64B643AB}"/>
              </a:ext>
            </a:extLst>
          </p:cNvPr>
          <p:cNvSpPr/>
          <p:nvPr/>
        </p:nvSpPr>
        <p:spPr>
          <a:xfrm>
            <a:off x="594111" y="2946057"/>
            <a:ext cx="5937318" cy="6197943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E66DF2F-9809-403B-A42D-1BC9D33FC5D4}"/>
              </a:ext>
            </a:extLst>
          </p:cNvPr>
          <p:cNvSpPr/>
          <p:nvPr/>
        </p:nvSpPr>
        <p:spPr>
          <a:xfrm>
            <a:off x="7961313" y="9946955"/>
            <a:ext cx="2133600" cy="1846576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33E7D7F-7125-49DB-A52D-C7564B801642}"/>
              </a:ext>
            </a:extLst>
          </p:cNvPr>
          <p:cNvSpPr/>
          <p:nvPr/>
        </p:nvSpPr>
        <p:spPr>
          <a:xfrm>
            <a:off x="7886667" y="9160651"/>
            <a:ext cx="13787999" cy="71064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21C2A346-DD9F-457A-B2F9-5D980109D396}"/>
              </a:ext>
            </a:extLst>
          </p:cNvPr>
          <p:cNvSpPr/>
          <p:nvPr/>
        </p:nvSpPr>
        <p:spPr>
          <a:xfrm>
            <a:off x="8039067" y="6338510"/>
            <a:ext cx="13787999" cy="71064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41DC2752-66EE-45FA-BC60-EB9165EC2430}"/>
              </a:ext>
            </a:extLst>
          </p:cNvPr>
          <p:cNvSpPr/>
          <p:nvPr/>
        </p:nvSpPr>
        <p:spPr>
          <a:xfrm>
            <a:off x="6213378" y="3480482"/>
            <a:ext cx="3154558" cy="1240809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442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6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2316F8C5-C181-4EA4-93BA-0B498DC7399A}"/>
              </a:ext>
            </a:extLst>
          </p:cNvPr>
          <p:cNvSpPr/>
          <p:nvPr/>
        </p:nvSpPr>
        <p:spPr>
          <a:xfrm>
            <a:off x="3973480" y="730059"/>
            <a:ext cx="16440088" cy="162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ДЕМОНСТРАЦИЯ РАБОТЫ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9AE6D51A-EE77-4EC8-9DBD-EE17AD2286E6}"/>
              </a:ext>
            </a:extLst>
          </p:cNvPr>
          <p:cNvSpPr/>
          <p:nvPr/>
        </p:nvSpPr>
        <p:spPr>
          <a:xfrm>
            <a:off x="3251927" y="2251790"/>
            <a:ext cx="1788319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</a:rPr>
              <a:t>Личный кабинет</a:t>
            </a:r>
            <a:endParaRPr lang="en-US" sz="3500" dirty="0"/>
          </a:p>
        </p:txBody>
      </p:sp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546BDDEB-4FBB-4EF7-B2DB-FDF8AE43A6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10" name="Text 10">
            <a:extLst>
              <a:ext uri="{FF2B5EF4-FFF2-40B4-BE49-F238E27FC236}">
                <a16:creationId xmlns:a16="http://schemas.microsoft.com/office/drawing/2014/main" id="{BD4CD55D-89FB-421A-B99A-BA572CF4B472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6BE8A21F-1170-4F50-ADF9-24F3DB2B0F80}"/>
              </a:ext>
            </a:extLst>
          </p:cNvPr>
          <p:cNvSpPr/>
          <p:nvPr/>
        </p:nvSpPr>
        <p:spPr>
          <a:xfrm>
            <a:off x="22391077" y="12750800"/>
            <a:ext cx="1569937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20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25</a:t>
            </a:r>
            <a:endParaRPr lang="en-US" sz="3500" dirty="0">
              <a:latin typeface="Montserrat Light" pitchFamily="2" charset="-52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6CB62A8-C729-4410-B532-669D45698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69" y="2866498"/>
            <a:ext cx="15353889" cy="942710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41FD0C8-3717-40EF-A522-9C2B6D078A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50180" y="6086558"/>
            <a:ext cx="8046201" cy="245697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704C2A0-8165-499A-B437-1716F50012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50181" y="2946057"/>
            <a:ext cx="8060121" cy="299911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5937B839-E3FE-49C3-B1AB-03234B218B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51897" y="8696545"/>
            <a:ext cx="3656688" cy="3629681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41DF58A-23B8-4E9F-AB0D-08B5FACBE389}"/>
              </a:ext>
            </a:extLst>
          </p:cNvPr>
          <p:cNvSpPr/>
          <p:nvPr/>
        </p:nvSpPr>
        <p:spPr>
          <a:xfrm>
            <a:off x="8733453" y="5758617"/>
            <a:ext cx="4963886" cy="155643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0BB2E5E-49BC-4A44-9088-8EC923B65FEC}"/>
              </a:ext>
            </a:extLst>
          </p:cNvPr>
          <p:cNvSpPr/>
          <p:nvPr/>
        </p:nvSpPr>
        <p:spPr>
          <a:xfrm>
            <a:off x="15914813" y="2795825"/>
            <a:ext cx="8046201" cy="9385655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96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A0B9A9D-92BD-4BAB-9541-81ECEBD42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731" y="2959401"/>
            <a:ext cx="19084240" cy="94850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434429" y="12687300"/>
            <a:ext cx="762095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500" dirty="0">
                <a:solidFill>
                  <a:srgbClr val="FFFFFF">
                    <a:alpha val="100000"/>
                  </a:srgbClr>
                </a:solidFill>
                <a:latin typeface="Montserrat SemiBold" pitchFamily="34" charset="0"/>
              </a:rPr>
              <a:t>24</a:t>
            </a:r>
            <a:endParaRPr lang="en-US" sz="45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3F1B61B5-56BF-4DF4-B2A6-FF5AB26D54AA}"/>
              </a:ext>
            </a:extLst>
          </p:cNvPr>
          <p:cNvSpPr/>
          <p:nvPr/>
        </p:nvSpPr>
        <p:spPr>
          <a:xfrm>
            <a:off x="3973480" y="730059"/>
            <a:ext cx="16440088" cy="162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ДЕМОНСТРАЦИЯ РАБОТЫ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DB7EC5F0-65D3-48E7-9A27-89F836F7CEC1}"/>
              </a:ext>
            </a:extLst>
          </p:cNvPr>
          <p:cNvSpPr/>
          <p:nvPr/>
        </p:nvSpPr>
        <p:spPr>
          <a:xfrm>
            <a:off x="3251927" y="2251790"/>
            <a:ext cx="1788319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</a:rPr>
              <a:t>Квитанции</a:t>
            </a:r>
            <a:endParaRPr lang="en-US" sz="3500" dirty="0"/>
          </a:p>
        </p:txBody>
      </p:sp>
      <p:pic>
        <p:nvPicPr>
          <p:cNvPr id="11" name="Image 2" descr=" ">
            <a:extLst>
              <a:ext uri="{FF2B5EF4-FFF2-40B4-BE49-F238E27FC236}">
                <a16:creationId xmlns:a16="http://schemas.microsoft.com/office/drawing/2014/main" id="{AB70DD39-E041-4905-B4B4-557F7BCCFD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4EAE3674-0C3D-4BB0-8CC8-F4F4D8702A8E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9C143D0-C9E3-4A61-84E5-A3D1E71EFA69}"/>
              </a:ext>
            </a:extLst>
          </p:cNvPr>
          <p:cNvSpPr/>
          <p:nvPr/>
        </p:nvSpPr>
        <p:spPr>
          <a:xfrm>
            <a:off x="22356147" y="12750800"/>
            <a:ext cx="1604867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21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25</a:t>
            </a:r>
            <a:endParaRPr lang="en-US" sz="3500" dirty="0">
              <a:latin typeface="Montserrat Light" pitchFamily="2" charset="-52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F541A6E-0D85-48DA-8D31-3CE2E93CF684}"/>
              </a:ext>
            </a:extLst>
          </p:cNvPr>
          <p:cNvSpPr/>
          <p:nvPr/>
        </p:nvSpPr>
        <p:spPr>
          <a:xfrm>
            <a:off x="8562293" y="5150497"/>
            <a:ext cx="5097724" cy="371575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BBF841EA-9FB2-40B8-B357-8730395F2DEC}"/>
              </a:ext>
            </a:extLst>
          </p:cNvPr>
          <p:cNvSpPr/>
          <p:nvPr/>
        </p:nvSpPr>
        <p:spPr>
          <a:xfrm>
            <a:off x="8562292" y="5522072"/>
            <a:ext cx="5097724" cy="391089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1F7C8AB-3FA5-40EC-8099-3DFEFAF4CE95}"/>
              </a:ext>
            </a:extLst>
          </p:cNvPr>
          <p:cNvSpPr/>
          <p:nvPr/>
        </p:nvSpPr>
        <p:spPr>
          <a:xfrm>
            <a:off x="19221061" y="4962819"/>
            <a:ext cx="2090057" cy="1118506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18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434429" y="12687300"/>
            <a:ext cx="762095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500" dirty="0">
                <a:solidFill>
                  <a:srgbClr val="FFFFFF">
                    <a:alpha val="100000"/>
                  </a:srgbClr>
                </a:solidFill>
                <a:latin typeface="Montserrat SemiBold" pitchFamily="34" charset="0"/>
              </a:rPr>
              <a:t>24</a:t>
            </a:r>
            <a:endParaRPr lang="en-US" sz="45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3F1B61B5-56BF-4DF4-B2A6-FF5AB26D54AA}"/>
              </a:ext>
            </a:extLst>
          </p:cNvPr>
          <p:cNvSpPr/>
          <p:nvPr/>
        </p:nvSpPr>
        <p:spPr>
          <a:xfrm>
            <a:off x="3973480" y="730059"/>
            <a:ext cx="16440088" cy="162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ДЕМОНСТРАЦИЯ РАБОТЫ</a:t>
            </a:r>
            <a:endParaRPr lang="en-US" sz="8500" dirty="0">
              <a:latin typeface="Gropled" pitchFamily="50" charset="0"/>
            </a:endParaRPr>
          </a:p>
        </p:txBody>
      </p:sp>
      <p:pic>
        <p:nvPicPr>
          <p:cNvPr id="11" name="Image 2" descr=" ">
            <a:extLst>
              <a:ext uri="{FF2B5EF4-FFF2-40B4-BE49-F238E27FC236}">
                <a16:creationId xmlns:a16="http://schemas.microsoft.com/office/drawing/2014/main" id="{AB70DD39-E041-4905-B4B4-557F7BCCF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4EAE3674-0C3D-4BB0-8CC8-F4F4D8702A8E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9C143D0-C9E3-4A61-84E5-A3D1E71EFA69}"/>
              </a:ext>
            </a:extLst>
          </p:cNvPr>
          <p:cNvSpPr/>
          <p:nvPr/>
        </p:nvSpPr>
        <p:spPr>
          <a:xfrm>
            <a:off x="22356147" y="12750800"/>
            <a:ext cx="1604867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22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25</a:t>
            </a:r>
            <a:endParaRPr lang="en-US" sz="3500" dirty="0">
              <a:latin typeface="Montserrat Light" pitchFamily="2" charset="-52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52B4F0-868B-437B-961E-047F23CCCF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9395" y="2946057"/>
            <a:ext cx="18960283" cy="9423743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ADB21D5D-48E6-426E-9FAA-7661D4E8E460}"/>
              </a:ext>
            </a:extLst>
          </p:cNvPr>
          <p:cNvSpPr/>
          <p:nvPr/>
        </p:nvSpPr>
        <p:spPr>
          <a:xfrm>
            <a:off x="3251927" y="2251790"/>
            <a:ext cx="1788319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Режим работы авторизованного пользователя «Управляющая компания»</a:t>
            </a:r>
            <a:endParaRPr lang="en-US" sz="3500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D920C45-D584-42F2-A57F-40C30DF516E6}"/>
              </a:ext>
            </a:extLst>
          </p:cNvPr>
          <p:cNvSpPr/>
          <p:nvPr/>
        </p:nvSpPr>
        <p:spPr>
          <a:xfrm>
            <a:off x="8301196" y="4180114"/>
            <a:ext cx="12833924" cy="2324741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99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9C2101-BF34-45E5-A8A7-F4E6AEC3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48" y="2893177"/>
            <a:ext cx="22446293" cy="7901579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C27105F3-283C-4690-A3AA-C285482AE4AD}"/>
              </a:ext>
            </a:extLst>
          </p:cNvPr>
          <p:cNvSpPr/>
          <p:nvPr/>
        </p:nvSpPr>
        <p:spPr>
          <a:xfrm>
            <a:off x="3973480" y="730059"/>
            <a:ext cx="16440088" cy="162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ДЕМОНСТРАЦИЯ РАБОТЫ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13F92CD6-0730-493A-A29A-2E66E3FF033E}"/>
              </a:ext>
            </a:extLst>
          </p:cNvPr>
          <p:cNvSpPr/>
          <p:nvPr/>
        </p:nvSpPr>
        <p:spPr>
          <a:xfrm>
            <a:off x="3251927" y="2251790"/>
            <a:ext cx="1788319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Режим работы авторизованного пользователя «Управляющая компания»</a:t>
            </a:r>
            <a:endParaRPr lang="en-US" sz="3500" dirty="0"/>
          </a:p>
        </p:txBody>
      </p:sp>
      <p:pic>
        <p:nvPicPr>
          <p:cNvPr id="13" name="Image 2" descr=" ">
            <a:extLst>
              <a:ext uri="{FF2B5EF4-FFF2-40B4-BE49-F238E27FC236}">
                <a16:creationId xmlns:a16="http://schemas.microsoft.com/office/drawing/2014/main" id="{4B9CC174-B7FD-4067-8CB3-055DA8892B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DA373177-A465-47CF-803D-24D381E88DB8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D689ADB-B13A-4EB8-A0E6-C9B042B1214D}"/>
              </a:ext>
            </a:extLst>
          </p:cNvPr>
          <p:cNvSpPr/>
          <p:nvPr/>
        </p:nvSpPr>
        <p:spPr>
          <a:xfrm>
            <a:off x="22356147" y="12750800"/>
            <a:ext cx="1604867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23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25</a:t>
            </a:r>
            <a:endParaRPr lang="en-US" sz="3500" dirty="0">
              <a:latin typeface="Montserrat Ligh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59792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923B89-CAF3-4186-9B36-73B693F1C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500" y="3009795"/>
            <a:ext cx="19408046" cy="9656583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C27105F3-283C-4690-A3AA-C285482AE4AD}"/>
              </a:ext>
            </a:extLst>
          </p:cNvPr>
          <p:cNvSpPr/>
          <p:nvPr/>
        </p:nvSpPr>
        <p:spPr>
          <a:xfrm>
            <a:off x="3973480" y="730059"/>
            <a:ext cx="16440088" cy="1629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en-US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ДЕМОНСТРАЦИЯ РАБОТЫ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13F92CD6-0730-493A-A29A-2E66E3FF033E}"/>
              </a:ext>
            </a:extLst>
          </p:cNvPr>
          <p:cNvSpPr/>
          <p:nvPr/>
        </p:nvSpPr>
        <p:spPr>
          <a:xfrm>
            <a:off x="3251927" y="2251790"/>
            <a:ext cx="1788319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Режим работы авторизованного пользователя «Управляющая компания»</a:t>
            </a:r>
            <a:endParaRPr lang="en-US" sz="3500" dirty="0"/>
          </a:p>
        </p:txBody>
      </p:sp>
      <p:pic>
        <p:nvPicPr>
          <p:cNvPr id="10" name="Image 2" descr=" ">
            <a:extLst>
              <a:ext uri="{FF2B5EF4-FFF2-40B4-BE49-F238E27FC236}">
                <a16:creationId xmlns:a16="http://schemas.microsoft.com/office/drawing/2014/main" id="{297F3189-EBBF-4483-955D-114620656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13" name="Text 10">
            <a:extLst>
              <a:ext uri="{FF2B5EF4-FFF2-40B4-BE49-F238E27FC236}">
                <a16:creationId xmlns:a16="http://schemas.microsoft.com/office/drawing/2014/main" id="{87E74B7A-E03B-49BF-9D22-8C2339FF31DB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1AA8466-03A1-4B7E-9A3E-5436A00A99D8}"/>
              </a:ext>
            </a:extLst>
          </p:cNvPr>
          <p:cNvSpPr/>
          <p:nvPr/>
        </p:nvSpPr>
        <p:spPr>
          <a:xfrm>
            <a:off x="22225518" y="12750800"/>
            <a:ext cx="1735496" cy="5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24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25</a:t>
            </a:r>
            <a:endParaRPr lang="en-US" sz="3500" dirty="0">
              <a:latin typeface="Montserrat Light" pitchFamily="2" charset="-52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EF667D9-2FE9-46D2-A00C-9FE435FF5C36}"/>
              </a:ext>
            </a:extLst>
          </p:cNvPr>
          <p:cNvSpPr/>
          <p:nvPr/>
        </p:nvSpPr>
        <p:spPr>
          <a:xfrm>
            <a:off x="20042153" y="6342470"/>
            <a:ext cx="1167611" cy="103470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C2D9EF0-E1E7-4BD3-A91D-0770A6EFCC51}"/>
              </a:ext>
            </a:extLst>
          </p:cNvPr>
          <p:cNvSpPr/>
          <p:nvPr/>
        </p:nvSpPr>
        <p:spPr>
          <a:xfrm>
            <a:off x="18874542" y="6342470"/>
            <a:ext cx="1167611" cy="1010052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02EDB23E-2E55-4F81-9D3A-FEBBAB60F26B}"/>
              </a:ext>
            </a:extLst>
          </p:cNvPr>
          <p:cNvSpPr/>
          <p:nvPr/>
        </p:nvSpPr>
        <p:spPr>
          <a:xfrm>
            <a:off x="17706931" y="6332225"/>
            <a:ext cx="1167611" cy="1020297"/>
          </a:xfrm>
          <a:prstGeom prst="roundRect">
            <a:avLst/>
          </a:prstGeom>
          <a:solidFill>
            <a:schemeClr val="accent1">
              <a:lumMod val="40000"/>
              <a:lumOff val="60000"/>
              <a:alpha val="38000"/>
            </a:schemeClr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0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94"/>
            <a:ext cx="24387048" cy="11231202"/>
          </a:xfrm>
          <a:prstGeom prst="roundRect">
            <a:avLst>
              <a:gd name="adj" fmla="val 12765"/>
            </a:avLst>
          </a:prstGeom>
          <a:solidFill>
            <a:srgbClr val="F4F7FF">
              <a:alpha val="10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889111" y="1765300"/>
            <a:ext cx="22735842" cy="10934700"/>
          </a:xfrm>
          <a:prstGeom prst="rect">
            <a:avLst/>
          </a:prstGeom>
          <a:noFill/>
          <a:ln/>
        </p:spPr>
      </p:sp>
      <p:sp>
        <p:nvSpPr>
          <p:cNvPr id="6" name="Shape 3"/>
          <p:cNvSpPr/>
          <p:nvPr/>
        </p:nvSpPr>
        <p:spPr>
          <a:xfrm>
            <a:off x="889111" y="1765300"/>
            <a:ext cx="15788073" cy="2552700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889111" y="973944"/>
            <a:ext cx="10195656" cy="2201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0"/>
              </a:lnSpc>
              <a:buNone/>
            </a:pPr>
            <a:r>
              <a:rPr lang="ru-RU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ИТОГИ РАБОТЫ: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89110" y="2889902"/>
            <a:ext cx="17641485" cy="124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Поставленные в ходе работы задачи были решены:</a:t>
            </a:r>
            <a:endParaRPr lang="en-US" sz="3500" dirty="0"/>
          </a:p>
        </p:txBody>
      </p:sp>
      <p:sp>
        <p:nvSpPr>
          <p:cNvPr id="9" name="Shape 6"/>
          <p:cNvSpPr/>
          <p:nvPr/>
        </p:nvSpPr>
        <p:spPr>
          <a:xfrm>
            <a:off x="889111" y="5588000"/>
            <a:ext cx="22735842" cy="711200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889111" y="10016771"/>
            <a:ext cx="16105310" cy="2201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0"/>
              </a:lnSpc>
              <a:buNone/>
            </a:pPr>
            <a:r>
              <a:rPr lang="ru-RU" sz="8500" dirty="0">
                <a:solidFill>
                  <a:srgbClr val="0546F0">
                    <a:alpha val="100000"/>
                  </a:srgbClr>
                </a:solidFill>
                <a:latin typeface="Gropled" pitchFamily="50" charset="0"/>
                <a:ea typeface="Gropled Bold" pitchFamily="34" charset="-122"/>
                <a:cs typeface="Gropled Bold" pitchFamily="34" charset="-120"/>
              </a:rPr>
              <a:t>СПАСИБО ЗА ВНИМАНИЕ!</a:t>
            </a:r>
            <a:endParaRPr lang="en-US" sz="8500" dirty="0">
              <a:latin typeface="Gropled" pitchFamily="50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89111" y="7048500"/>
            <a:ext cx="22735842" cy="56515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889111" y="7048500"/>
            <a:ext cx="6985873" cy="5651500"/>
          </a:xfrm>
          <a:prstGeom prst="rect">
            <a:avLst/>
          </a:prstGeom>
          <a:noFill/>
          <a:ln/>
        </p:spPr>
      </p:sp>
      <p:sp>
        <p:nvSpPr>
          <p:cNvPr id="13" name="Text 10"/>
          <p:cNvSpPr/>
          <p:nvPr/>
        </p:nvSpPr>
        <p:spPr>
          <a:xfrm>
            <a:off x="571874" y="4547907"/>
            <a:ext cx="7567015" cy="124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1" algn="l">
              <a:buSzPct val="100000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Была проанализирована и описана предметная область:</a:t>
            </a:r>
            <a:endParaRPr lang="en-US" sz="3500" dirty="0"/>
          </a:p>
        </p:txBody>
      </p:sp>
      <p:sp>
        <p:nvSpPr>
          <p:cNvPr id="14" name="Text 11"/>
          <p:cNvSpPr/>
          <p:nvPr/>
        </p:nvSpPr>
        <p:spPr>
          <a:xfrm>
            <a:off x="571873" y="5830607"/>
            <a:ext cx="7671617" cy="4516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изучены принципы работы приложений для управления многоквартирным домом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;</a:t>
            </a:r>
            <a:endParaRPr lang="ru-RU" sz="3500" dirty="0">
              <a:solidFill>
                <a:srgbClr val="141414">
                  <a:alpha val="100000"/>
                </a:srgbClr>
              </a:solidFill>
              <a:latin typeface="Montserrat Regular" pitchFamily="34" charset="0"/>
            </a:endParaRPr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сделан обзор систем-аналогов в области управления многоквартирными домами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.</a:t>
            </a:r>
            <a:endParaRPr lang="en-US" sz="3500" dirty="0"/>
          </a:p>
        </p:txBody>
      </p:sp>
      <p:sp>
        <p:nvSpPr>
          <p:cNvPr id="15" name="Shape 12"/>
          <p:cNvSpPr/>
          <p:nvPr/>
        </p:nvSpPr>
        <p:spPr>
          <a:xfrm>
            <a:off x="8764095" y="7048500"/>
            <a:ext cx="6985873" cy="4559300"/>
          </a:xfrm>
          <a:prstGeom prst="rect">
            <a:avLst/>
          </a:prstGeom>
          <a:noFill/>
          <a:ln/>
        </p:spPr>
      </p:sp>
      <p:sp>
        <p:nvSpPr>
          <p:cNvPr id="16" name="Text 13"/>
          <p:cNvSpPr/>
          <p:nvPr/>
        </p:nvSpPr>
        <p:spPr>
          <a:xfrm>
            <a:off x="8596146" y="4547907"/>
            <a:ext cx="6791115" cy="124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1" algn="l">
              <a:buSzPct val="100000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Была спроектирована система:</a:t>
            </a:r>
            <a:endParaRPr lang="en-US" sz="3500" dirty="0"/>
          </a:p>
        </p:txBody>
      </p:sp>
      <p:sp>
        <p:nvSpPr>
          <p:cNvPr id="17" name="Text 14"/>
          <p:cNvSpPr/>
          <p:nvPr/>
        </p:nvSpPr>
        <p:spPr>
          <a:xfrm>
            <a:off x="8596145" y="5830607"/>
            <a:ext cx="7913090" cy="455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разработана структурную схема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;</a:t>
            </a:r>
            <a:endParaRPr lang="ru-RU" sz="3500" dirty="0">
              <a:solidFill>
                <a:srgbClr val="141414">
                  <a:alpha val="100000"/>
                </a:srgbClr>
              </a:solidFill>
              <a:latin typeface="Montserrat Regular" pitchFamily="34" charset="0"/>
              <a:ea typeface="Montserrat Regular" pitchFamily="34" charset="-122"/>
              <a:cs typeface="Montserrat Regular" pitchFamily="34" charset="-120"/>
            </a:endParaRPr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разработан информационно-логический проект системы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;</a:t>
            </a:r>
            <a:endParaRPr lang="ru-RU" sz="3500" dirty="0">
              <a:solidFill>
                <a:srgbClr val="141414">
                  <a:alpha val="100000"/>
                </a:srgbClr>
              </a:solidFill>
              <a:latin typeface="Montserrat Regular" pitchFamily="34" charset="0"/>
            </a:endParaRPr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разработан интерфейс пользователя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</a:rPr>
              <a:t>.</a:t>
            </a:r>
            <a:endParaRPr lang="en-US" sz="3500" dirty="0"/>
          </a:p>
        </p:txBody>
      </p:sp>
      <p:sp>
        <p:nvSpPr>
          <p:cNvPr id="18" name="Shape 15"/>
          <p:cNvSpPr/>
          <p:nvPr/>
        </p:nvSpPr>
        <p:spPr>
          <a:xfrm>
            <a:off x="16639080" y="7048500"/>
            <a:ext cx="6985873" cy="5105400"/>
          </a:xfrm>
          <a:prstGeom prst="rect">
            <a:avLst/>
          </a:prstGeom>
          <a:noFill/>
          <a:ln/>
        </p:spPr>
      </p:sp>
      <p:sp>
        <p:nvSpPr>
          <p:cNvPr id="19" name="Text 16"/>
          <p:cNvSpPr/>
          <p:nvPr/>
        </p:nvSpPr>
        <p:spPr>
          <a:xfrm>
            <a:off x="16732385" y="4547907"/>
            <a:ext cx="5673376" cy="124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1" algn="l">
              <a:buSzPct val="100000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Была реализована система:</a:t>
            </a:r>
            <a:endParaRPr lang="en-US" sz="3500" dirty="0"/>
          </a:p>
        </p:txBody>
      </p:sp>
      <p:sp>
        <p:nvSpPr>
          <p:cNvPr id="20" name="Text 17"/>
          <p:cNvSpPr/>
          <p:nvPr/>
        </p:nvSpPr>
        <p:spPr>
          <a:xfrm>
            <a:off x="16732385" y="5830607"/>
            <a:ext cx="7134058" cy="397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buSzPct val="100000"/>
              <a:buChar char="•"/>
            </a:pPr>
            <a:r>
              <a:rPr lang="en-US" sz="3500" dirty="0" err="1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</a:t>
            </a:r>
            <a:r>
              <a:rPr lang="ru-RU" sz="3500" dirty="0" err="1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тано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программное обеспечение</a:t>
            </a:r>
            <a:r>
              <a:rPr lang="en-US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;</a:t>
            </a:r>
            <a:endParaRPr lang="en-US" sz="3500" dirty="0"/>
          </a:p>
          <a:p>
            <a:pPr marL="685800" lvl="1" indent="-342900" algn="l">
              <a:buSzPct val="100000"/>
              <a:buChar char="•"/>
            </a:pPr>
            <a:r>
              <a:rPr lang="ru-RU" sz="3500" dirty="0">
                <a:solidFill>
                  <a:srgbClr val="141414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проведены тестирование и отладка.</a:t>
            </a:r>
            <a:endParaRPr lang="en-US" sz="3500" dirty="0"/>
          </a:p>
        </p:txBody>
      </p:sp>
      <p:pic>
        <p:nvPicPr>
          <p:cNvPr id="21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21158" y="-895737"/>
            <a:ext cx="4737692" cy="4203700"/>
          </a:xfrm>
          <a:prstGeom prst="rect">
            <a:avLst/>
          </a:prstGeom>
        </p:spPr>
      </p:pic>
      <p:pic>
        <p:nvPicPr>
          <p:cNvPr id="22" name="Image 2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16720" y="-895737"/>
            <a:ext cx="3442130" cy="2946400"/>
          </a:xfrm>
          <a:prstGeom prst="rect">
            <a:avLst/>
          </a:prstGeom>
        </p:spPr>
      </p:pic>
      <p:pic>
        <p:nvPicPr>
          <p:cNvPr id="23" name="Image 3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543936" y="-895737"/>
            <a:ext cx="2514914" cy="2019300"/>
          </a:xfrm>
          <a:prstGeom prst="rect">
            <a:avLst/>
          </a:prstGeom>
        </p:spPr>
      </p:pic>
      <p:pic>
        <p:nvPicPr>
          <p:cNvPr id="26" name="Image 2" descr=" ">
            <a:extLst>
              <a:ext uri="{FF2B5EF4-FFF2-40B4-BE49-F238E27FC236}">
                <a16:creationId xmlns:a16="http://schemas.microsoft.com/office/drawing/2014/main" id="{657B8A6F-F95E-4A9E-8868-EFCB798EE6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12369800"/>
            <a:ext cx="24387048" cy="1346200"/>
          </a:xfrm>
          <a:prstGeom prst="rect">
            <a:avLst/>
          </a:prstGeom>
        </p:spPr>
      </p:pic>
      <p:sp>
        <p:nvSpPr>
          <p:cNvPr id="28" name="Text 10">
            <a:extLst>
              <a:ext uri="{FF2B5EF4-FFF2-40B4-BE49-F238E27FC236}">
                <a16:creationId xmlns:a16="http://schemas.microsoft.com/office/drawing/2014/main" id="{1EE6BEFE-BDBE-4D53-BD69-F634F549C33F}"/>
              </a:ext>
            </a:extLst>
          </p:cNvPr>
          <p:cNvSpPr/>
          <p:nvPr/>
        </p:nvSpPr>
        <p:spPr>
          <a:xfrm>
            <a:off x="889111" y="12573000"/>
            <a:ext cx="1351448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Разработка</a:t>
            </a: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 </a:t>
            </a:r>
            <a:r>
              <a:rPr lang="en-US" sz="3000" dirty="0" err="1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веб-приложения</a:t>
            </a:r>
            <a:endParaRPr lang="en-US" sz="3000" dirty="0"/>
          </a:p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для управления многоквартирным домом</a:t>
            </a:r>
            <a:endParaRPr lang="en-US" sz="30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EF1B7BDB-BFD1-4AE2-AE91-1AAB7CA6748F}"/>
              </a:ext>
            </a:extLst>
          </p:cNvPr>
          <p:cNvSpPr/>
          <p:nvPr/>
        </p:nvSpPr>
        <p:spPr>
          <a:xfrm>
            <a:off x="21908278" y="12750800"/>
            <a:ext cx="2052736" cy="59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25</a:t>
            </a:r>
            <a:r>
              <a:rPr lang="en-US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 | 2</a:t>
            </a:r>
            <a:r>
              <a:rPr lang="ru-RU" sz="3500" dirty="0">
                <a:solidFill>
                  <a:srgbClr val="FFFFFF">
                    <a:alpha val="100000"/>
                  </a:srgbClr>
                </a:solidFill>
                <a:latin typeface="Montserrat Light" pitchFamily="2" charset="-52"/>
                <a:ea typeface="Montserrat SemiBold" pitchFamily="34" charset="-122"/>
                <a:cs typeface="Montserrat SemiBold" pitchFamily="34" charset="-120"/>
              </a:rPr>
              <a:t>5</a:t>
            </a:r>
            <a:endParaRPr lang="en-US" sz="3500" dirty="0">
              <a:latin typeface="Montserrat Ligh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37698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731</Words>
  <Application>Microsoft Office PowerPoint</Application>
  <PresentationFormat>Произвольный</PresentationFormat>
  <Paragraphs>231</Paragraphs>
  <Slides>25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5" baseType="lpstr">
      <vt:lpstr>Gropled</vt:lpstr>
      <vt:lpstr>Montserrat Light</vt:lpstr>
      <vt:lpstr>Montserrat SemiBold</vt:lpstr>
      <vt:lpstr>Gropled Bold</vt:lpstr>
      <vt:lpstr>Calibri</vt:lpstr>
      <vt:lpstr>Montserrat Regular</vt:lpstr>
      <vt:lpstr>Montserrat Bold</vt:lpstr>
      <vt:lpstr>Arial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Дарья Коварцева</cp:lastModifiedBy>
  <cp:revision>86</cp:revision>
  <dcterms:created xsi:type="dcterms:W3CDTF">2024-04-02T17:08:28Z</dcterms:created>
  <dcterms:modified xsi:type="dcterms:W3CDTF">2026-04-09T13:33:32Z</dcterms:modified>
</cp:coreProperties>
</file>