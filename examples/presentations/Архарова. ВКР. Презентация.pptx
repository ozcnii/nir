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304" r:id="rId4"/>
    <p:sldId id="269" r:id="rId5"/>
    <p:sldId id="271" r:id="rId6"/>
    <p:sldId id="272" r:id="rId7"/>
    <p:sldId id="268" r:id="rId8"/>
    <p:sldId id="274" r:id="rId9"/>
    <p:sldId id="275" r:id="rId10"/>
    <p:sldId id="276" r:id="rId11"/>
    <p:sldId id="278" r:id="rId12"/>
    <p:sldId id="306" r:id="rId13"/>
    <p:sldId id="280" r:id="rId14"/>
    <p:sldId id="305" r:id="rId15"/>
    <p:sldId id="288" r:id="rId16"/>
    <p:sldId id="297" r:id="rId17"/>
    <p:sldId id="298" r:id="rId18"/>
    <p:sldId id="299" r:id="rId19"/>
    <p:sldId id="295" r:id="rId20"/>
    <p:sldId id="296" r:id="rId21"/>
    <p:sldId id="293" r:id="rId22"/>
    <p:sldId id="292" r:id="rId23"/>
    <p:sldId id="303" r:id="rId24"/>
    <p:sldId id="300" r:id="rId25"/>
    <p:sldId id="281" r:id="rId26"/>
    <p:sldId id="273" r:id="rId27"/>
  </p:sldIdLst>
  <p:sldSz cx="12192000" cy="6858000"/>
  <p:notesSz cx="6858000" cy="99472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2C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7115DDB-3BE7-4419-A837-D5C2DDC2E1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91D6E0-69E7-4F4A-8980-4F4F2D8326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934E7-DF14-4271-850E-9816298FB90C}" type="datetimeFigureOut">
              <a:rPr lang="ru-RU" smtClean="0"/>
              <a:t>09.06.2024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AD386A-8BB0-4495-A266-1EB9B8C615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C89B45-8CEF-4AA2-8A64-90042E2ECE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67034-472F-447A-B447-FC7F2A6C1E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777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09.06.2024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BC090A-9FF5-4910-97EB-0108036318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3276C11E-8266-4621-AD03-64F0CDC4A9F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15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8CFDEA-8FA6-4D30-B50C-B1FB88308B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022A93E3-6B6D-47FA-A933-80BAFB30ECF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03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0EBD7B-42A6-4E82-9F53-4EE3D0EC0C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296E20D9-1E51-4A11-AE03-3B937C464B3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165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57BAA-01EE-43AF-A602-31472AE51D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B56B421A-1DAB-455F-AEBB-DEA8E712666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868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1CD200-3605-4AD3-B149-9EFA63E6AE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BBA2FCF6-C5EB-4445-81F1-3084A291B6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8A4D03-A21B-406E-8949-D0C6956229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93FB8FDE-542A-4F3C-9635-9C999CB63BD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381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9DCEEA-35BE-4365-B0E6-AB0303167E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32F706AD-D1E9-41D7-8BB8-D215C213F9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77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60E40-FF35-452B-9FA5-E0041AD04D1B}" type="datetime1">
              <a:rPr lang="ru-RU" smtClean="0"/>
              <a:t>09.06.2024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CC020-FE86-4F93-A1EF-C37F62AD8D8C}" type="datetime1">
              <a:rPr lang="ru-RU" smtClean="0"/>
              <a:t>09.06.2024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AD024-BA4F-4932-BCDC-C1F1213CC8CF}" type="datetime1">
              <a:rPr lang="ru-RU" smtClean="0"/>
              <a:t>09.06.2024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43CD-3F55-4721-9031-CE19976CAE72}" type="datetime1">
              <a:rPr lang="ru-RU" smtClean="0"/>
              <a:t>09.06.2024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4271-D6F8-4FF0-BE35-D8B8589241B1}" type="datetime1">
              <a:rPr lang="ru-RU" smtClean="0"/>
              <a:t>09.06.2024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23FE-48F6-4A48-BEF9-C4E02975B028}" type="datetime1">
              <a:rPr lang="ru-RU" smtClean="0"/>
              <a:t>09.06.2024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B697-C3E1-4298-9FE2-D3A79C79A0CA}" type="datetime1">
              <a:rPr lang="ru-RU" smtClean="0"/>
              <a:t>09.06.2024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B46A0-BBC2-43C9-94CD-23505163807E}" type="datetime1">
              <a:rPr lang="ru-RU" smtClean="0"/>
              <a:t>09.06.2024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570B-F7AE-45D1-8CE4-8A9F7DFAFD57}" type="datetime1">
              <a:rPr lang="ru-RU" smtClean="0"/>
              <a:t>09.06.2024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7670-37E2-44A9-B021-180188649F94}" type="datetime1">
              <a:rPr lang="ru-RU" smtClean="0"/>
              <a:t>09.06.2024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A843-E335-40EB-939D-B1A951D4EBDA}" type="datetime1">
              <a:rPr lang="ru-RU" smtClean="0"/>
              <a:t>09.06.2024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D4AC0-F24C-4805-8B24-E69031E58F48}" type="datetime1">
              <a:rPr lang="ru-RU" smtClean="0"/>
              <a:t>09.06.2024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0968" y="2316751"/>
            <a:ext cx="4703109" cy="1015663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000" b="0" i="0" dirty="0">
                <a:solidFill>
                  <a:schemeClr val="bg1"/>
                </a:solidFill>
                <a:effectLst/>
              </a:rPr>
              <a:t>Разработка веб-приложения для ведения учета </a:t>
            </a:r>
            <a:r>
              <a:rPr lang="ru-RU" sz="2000" dirty="0">
                <a:solidFill>
                  <a:schemeClr val="bg1"/>
                </a:solidFill>
              </a:rPr>
              <a:t>заказов</a:t>
            </a:r>
            <a:r>
              <a:rPr lang="ru-RU" sz="2000" b="0" i="0" dirty="0">
                <a:solidFill>
                  <a:schemeClr val="bg1"/>
                </a:solidFill>
                <a:effectLst/>
              </a:rPr>
              <a:t> и анализа продаж для бизнеса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99501" y="4574578"/>
            <a:ext cx="3846286" cy="116955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Выполнил: 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</a:rPr>
              <a:t>студент группы 6413-020302D Архарова Д.А.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</a:rPr>
              <a:t>Научный руководитель: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</a:rPr>
              <a:t>доцент кафедры программных систем,</a:t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>
                <a:solidFill>
                  <a:schemeClr val="bg1"/>
                </a:solidFill>
              </a:rPr>
              <a:t>к.т.н., доцент Д. А. Попова-Коварцева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9833" y="6122657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Самара 2024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6406A6C-8635-4867-A1EA-6F5DF7CE7E7F}"/>
              </a:ext>
            </a:extLst>
          </p:cNvPr>
          <p:cNvSpPr txBox="1"/>
          <p:nvPr/>
        </p:nvSpPr>
        <p:spPr>
          <a:xfrm>
            <a:off x="5498269" y="3525586"/>
            <a:ext cx="620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ru-RU" sz="2000" dirty="0">
                <a:solidFill>
                  <a:schemeClr val="bg1"/>
                </a:solidFill>
              </a:rPr>
              <a:t>Выпускная квалификационная работа бакалавра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927" y="2210644"/>
            <a:ext cx="10942211" cy="312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cs typeface="Times New Roman" panose="02020603050405020304" pitchFamily="18" charset="0"/>
              </a:rPr>
              <a:t>Задачи</a:t>
            </a:r>
            <a:r>
              <a:rPr lang="en-US" sz="2000" i="1" dirty="0"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изучить и описать предметную область;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сделать обзор систем-аналогов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структурную схему системы;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информационно-логический проект системы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по методологии UML;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пользовательский интерфейс;</a:t>
            </a: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630555" algn="l"/>
              </a:tabLst>
            </a:pPr>
            <a:r>
              <a:rPr lang="ru-RU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реализовать систему, выполнить тестирование и отладку.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6662" y="227086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ПОСТАНОВКА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450A3-2620-4951-AFEA-3C84DA9731A9}"/>
              </a:ext>
            </a:extLst>
          </p:cNvPr>
          <p:cNvSpPr txBox="1"/>
          <p:nvPr/>
        </p:nvSpPr>
        <p:spPr>
          <a:xfrm>
            <a:off x="533928" y="1044384"/>
            <a:ext cx="11124142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2000" i="1" dirty="0">
                <a:cs typeface="Times New Roman" panose="02020603050405020304" pitchFamily="18" charset="0"/>
              </a:rPr>
              <a:t>Цель работы: </a:t>
            </a:r>
            <a:endParaRPr lang="en-US" sz="2000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0" i="0" dirty="0">
                <a:effectLst/>
                <a:cs typeface="Times New Roman" panose="02020603050405020304" pitchFamily="18" charset="0"/>
              </a:rPr>
              <a:t>Разработка веб-приложения для ведения учета </a:t>
            </a:r>
            <a:r>
              <a:rPr lang="ru-RU" sz="2000" dirty="0">
                <a:cs typeface="Times New Roman" panose="02020603050405020304" pitchFamily="18" charset="0"/>
              </a:rPr>
              <a:t>заказов</a:t>
            </a:r>
            <a:r>
              <a:rPr lang="ru-RU" sz="2000" b="0" i="0" dirty="0">
                <a:effectLst/>
                <a:cs typeface="Times New Roman" panose="02020603050405020304" pitchFamily="18" charset="0"/>
              </a:rPr>
              <a:t> и анализа продаж для бизнеса</a:t>
            </a:r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8FEA0-AC7C-404F-9BAE-BB29F8645E61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0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46662" y="227086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ПРЕДМЕТНОЙ ОБЛАСТИ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620B0-C999-42D8-ADB8-92294B701820}"/>
              </a:ext>
            </a:extLst>
          </p:cNvPr>
          <p:cNvSpPr txBox="1"/>
          <p:nvPr/>
        </p:nvSpPr>
        <p:spPr>
          <a:xfrm>
            <a:off x="745906" y="1091680"/>
            <a:ext cx="10828960" cy="549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702310" algn="l"/>
              </a:tabLs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втоматизация процесса учета заказов позволяет повысить эффективность и управляемость бизнеса, а также снизить затраты за счет, например, уменьшения бумажной документации.</a:t>
            </a:r>
            <a:endParaRPr lang="ru-RU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702310" algn="l"/>
              </a:tabLst>
            </a:pPr>
            <a:r>
              <a:rPr lang="ru-R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Преимущества автоматизации учета заказов: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702310" algn="l"/>
              </a:tabLst>
            </a:pP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позволяет избежать ошибок и потер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ь</a:t>
            </a: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данных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702310" algn="l"/>
              </a:tabLst>
            </a:pP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внесение данных сразу после обработки заказа;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  <a:tabLst>
                <a:tab pos="702310" algn="l"/>
              </a:tabLst>
            </a:pP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готовая статистика о проведенных заказах.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tabLst>
                <a:tab pos="702310" algn="l"/>
              </a:tabLst>
            </a:pPr>
            <a:r>
              <a:rPr lang="ru-R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Анализ продаж </a:t>
            </a: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это комплекс исследований для оценки эффективности. Он позволяет принять решение</a:t>
            </a:r>
          </a:p>
          <a:p>
            <a:pPr lvl="0" algn="just">
              <a:lnSpc>
                <a:spcPct val="150000"/>
              </a:lnSpc>
              <a:tabLst>
                <a:tab pos="702310" algn="l"/>
              </a:tabLst>
            </a:pP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 развитию бизнеса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702310" algn="l"/>
              </a:tabLs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втоматизация анализа продаж позволяет прозрачно отслеживать прогресс или регресс своего бизнеса в единой системе, например, с помощью графиков по ключевым показателям – размеру выручки и количеству проданных товаров или услуг, что позволит вовремя принять необходимые действия по его развитию</a:t>
            </a:r>
          </a:p>
          <a:p>
            <a:pPr lvl="0" algn="just">
              <a:lnSpc>
                <a:spcPct val="150000"/>
              </a:lnSpc>
              <a:tabLst>
                <a:tab pos="702310" algn="l"/>
              </a:tabLst>
            </a:pP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08ACD-7158-4235-930B-CE56BA648BEA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8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46662" y="247615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АНАЛИЗ СИСТЕМ-АНАЛОГОВ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450A3-2620-4951-AFEA-3C84DA9731A9}"/>
              </a:ext>
            </a:extLst>
          </p:cNvPr>
          <p:cNvSpPr txBox="1"/>
          <p:nvPr/>
        </p:nvSpPr>
        <p:spPr>
          <a:xfrm>
            <a:off x="501499" y="2020305"/>
            <a:ext cx="399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cs typeface="Times New Roman" panose="02020603050405020304" pitchFamily="18" charset="0"/>
              </a:rPr>
              <a:t>1. «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Simple Inventory Management System</a:t>
            </a:r>
            <a:r>
              <a:rPr lang="ru-R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SIMS</a:t>
            </a:r>
            <a:r>
              <a:rPr lang="ru-R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0238D-29BF-4371-8FF4-46D3C0B59CDD}"/>
              </a:ext>
            </a:extLst>
          </p:cNvPr>
          <p:cNvSpPr txBox="1"/>
          <p:nvPr/>
        </p:nvSpPr>
        <p:spPr>
          <a:xfrm>
            <a:off x="501500" y="2972228"/>
            <a:ext cx="43279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i="1" dirty="0">
                <a:cs typeface="Times New Roman" panose="02020603050405020304" pitchFamily="18" charset="0"/>
              </a:rPr>
              <a:t>Функционал</a:t>
            </a:r>
            <a:r>
              <a:rPr lang="en-US" sz="2000" i="1" dirty="0"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фильтрация по заказам;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возможность поиска по заказам;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товары можно разделить</a:t>
            </a:r>
            <a:br>
              <a:rPr lang="ru-RU" sz="2000" dirty="0">
                <a:cs typeface="Times New Roman" panose="02020603050405020304" pitchFamily="18" charset="0"/>
              </a:rPr>
            </a:br>
            <a:r>
              <a:rPr lang="ru-RU" sz="2000" dirty="0">
                <a:cs typeface="Times New Roman" panose="02020603050405020304" pitchFamily="18" charset="0"/>
              </a:rPr>
              <a:t>по категориям.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2B2F3F-7551-4425-9C42-77E054837C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0" r="4985" b="2698"/>
          <a:stretch/>
        </p:blipFill>
        <p:spPr bwMode="auto">
          <a:xfrm>
            <a:off x="5016617" y="1974124"/>
            <a:ext cx="7175383" cy="351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73598E-5BBC-4FB0-8D3F-6CB3FD042133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396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7C474-F79B-4FCD-B936-BD16055494B5}"/>
              </a:ext>
            </a:extLst>
          </p:cNvPr>
          <p:cNvSpPr txBox="1"/>
          <p:nvPr/>
        </p:nvSpPr>
        <p:spPr>
          <a:xfrm>
            <a:off x="533930" y="1718942"/>
            <a:ext cx="449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cs typeface="Times New Roman" panose="02020603050405020304" pitchFamily="18" charset="0"/>
              </a:rPr>
              <a:t>2. «</a:t>
            </a:r>
            <a:r>
              <a:rPr lang="ru-RU" sz="2400" dirty="0" err="1">
                <a:cs typeface="Times New Roman" panose="02020603050405020304" pitchFamily="18" charset="0"/>
              </a:rPr>
              <a:t>Бизнес.ру</a:t>
            </a:r>
            <a:r>
              <a:rPr lang="ru-RU" sz="2400" dirty="0"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3F0AE-20D1-45EF-A7B0-6F0DF9E2096F}"/>
              </a:ext>
            </a:extLst>
          </p:cNvPr>
          <p:cNvSpPr txBox="1"/>
          <p:nvPr/>
        </p:nvSpPr>
        <p:spPr>
          <a:xfrm>
            <a:off x="533930" y="2292463"/>
            <a:ext cx="533897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cs typeface="Times New Roman" panose="02020603050405020304" pitchFamily="18" charset="0"/>
              </a:rPr>
              <a:t>Функционал</a:t>
            </a:r>
            <a:r>
              <a:rPr lang="en-US" sz="2000" i="1" dirty="0"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фильтрация по заказам;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возможность поиска по заказам;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товары можно разделить по категориям</a:t>
            </a:r>
            <a:r>
              <a:rPr lang="en-US" sz="2000" dirty="0">
                <a:cs typeface="Times New Roman" panose="02020603050405020304" pitchFamily="18" charset="0"/>
              </a:rPr>
              <a:t>;</a:t>
            </a:r>
            <a:endParaRPr lang="ru-RU" sz="2000" dirty="0"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присутствует аналитика по выручке и заказам в виде графиков</a:t>
            </a:r>
            <a:r>
              <a:rPr lang="en-US" sz="2000" dirty="0">
                <a:cs typeface="Times New Roman" panose="02020603050405020304" pitchFamily="18" charset="0"/>
              </a:rPr>
              <a:t>;</a:t>
            </a:r>
            <a:r>
              <a:rPr lang="ru-RU" sz="2000" dirty="0"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демонстрация среднего чека по заказам</a:t>
            </a:r>
            <a:r>
              <a:rPr lang="en-US" sz="2000" dirty="0"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множество дополнительных функций для бизнеса.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D12D99-2D11-43B6-A671-2CDEE1D5A590}"/>
              </a:ext>
            </a:extLst>
          </p:cNvPr>
          <p:cNvSpPr txBox="1"/>
          <p:nvPr/>
        </p:nvSpPr>
        <p:spPr>
          <a:xfrm>
            <a:off x="2146662" y="247615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АНАЛИЗ СИСТЕМ-АНАЛОГОВ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7A1FB6-47FF-4D4C-AC28-C39AD2806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512" y="1712062"/>
            <a:ext cx="6638488" cy="442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EFA4C7-A75F-4E16-8C0A-AE5A6CB11C23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054" name="Picture 6" descr="Мой склад">
            <a:extLst>
              <a:ext uri="{FF2B5EF4-FFF2-40B4-BE49-F238E27FC236}">
                <a16:creationId xmlns:a16="http://schemas.microsoft.com/office/drawing/2014/main" id="{B9FF11D8-A8CF-4351-A0CA-5C61303CB5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0"/>
          <a:stretch/>
        </p:blipFill>
        <p:spPr bwMode="auto">
          <a:xfrm>
            <a:off x="5121243" y="1670603"/>
            <a:ext cx="7070757" cy="351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D1A096-72A0-4412-822E-474F14DDD3A9}"/>
              </a:ext>
            </a:extLst>
          </p:cNvPr>
          <p:cNvSpPr txBox="1"/>
          <p:nvPr/>
        </p:nvSpPr>
        <p:spPr>
          <a:xfrm>
            <a:off x="533929" y="1975430"/>
            <a:ext cx="4490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cs typeface="Times New Roman" panose="02020603050405020304" pitchFamily="18" charset="0"/>
              </a:rPr>
              <a:t>3. «Мой склад»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E13BB-027C-462E-8BF2-7AF0052A4270}"/>
              </a:ext>
            </a:extLst>
          </p:cNvPr>
          <p:cNvSpPr txBox="1"/>
          <p:nvPr/>
        </p:nvSpPr>
        <p:spPr>
          <a:xfrm>
            <a:off x="533929" y="2668644"/>
            <a:ext cx="44198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cs typeface="Times New Roman" panose="02020603050405020304" pitchFamily="18" charset="0"/>
              </a:rPr>
              <a:t>Функционал</a:t>
            </a:r>
            <a:r>
              <a:rPr lang="en-US" sz="2000" i="1" dirty="0"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фильтрация по заказам;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возможность поиска по заказам;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товары можно разделить</a:t>
            </a:r>
            <a:endParaRPr lang="en-US" sz="2000" dirty="0">
              <a:cs typeface="Times New Roman" panose="02020603050405020304" pitchFamily="18" charset="0"/>
            </a:endParaRPr>
          </a:p>
          <a:p>
            <a:r>
              <a:rPr lang="ru-RU" sz="2000" dirty="0">
                <a:cs typeface="Times New Roman" panose="02020603050405020304" pitchFamily="18" charset="0"/>
              </a:rPr>
              <a:t>по категориям</a:t>
            </a:r>
            <a:r>
              <a:rPr lang="en-US" sz="2000" dirty="0">
                <a:cs typeface="Times New Roman" panose="02020603050405020304" pitchFamily="18" charset="0"/>
              </a:rPr>
              <a:t>;</a:t>
            </a:r>
            <a:endParaRPr lang="ru-RU" sz="2000" dirty="0"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sz="2000" dirty="0">
                <a:cs typeface="Times New Roman" panose="02020603050405020304" pitchFamily="18" charset="0"/>
              </a:rPr>
              <a:t>присутствует аналитика по выручке</a:t>
            </a:r>
          </a:p>
          <a:p>
            <a:r>
              <a:rPr lang="ru-RU" sz="2000" dirty="0">
                <a:cs typeface="Times New Roman" panose="02020603050405020304" pitchFamily="18" charset="0"/>
              </a:rPr>
              <a:t>и заказам.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AA9EF-85AD-4A60-8CF9-F241BE400299}"/>
              </a:ext>
            </a:extLst>
          </p:cNvPr>
          <p:cNvSpPr txBox="1"/>
          <p:nvPr/>
        </p:nvSpPr>
        <p:spPr>
          <a:xfrm>
            <a:off x="2146662" y="247615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АНАЛИЗ СИСТЕМ-АНАЛОГОВ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315B9-D180-4A73-8A6B-4D1F0AD90FE1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33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63536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АНАЛИЗ СИСТЕМ-АНАЛОГОВ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9AD0D-B531-4E4C-B937-35F0DFAFC7FA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4C752092-D37E-4A3A-89A6-152174F181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1587247"/>
              </p:ext>
            </p:extLst>
          </p:nvPr>
        </p:nvGraphicFramePr>
        <p:xfrm>
          <a:off x="303402" y="1125476"/>
          <a:ext cx="11585196" cy="5017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1313">
                  <a:extLst>
                    <a:ext uri="{9D8B030D-6E8A-4147-A177-3AD203B41FA5}">
                      <a16:colId xmlns:a16="http://schemas.microsoft.com/office/drawing/2014/main" val="3754226463"/>
                    </a:ext>
                  </a:extLst>
                </a:gridCol>
                <a:gridCol w="2122414">
                  <a:extLst>
                    <a:ext uri="{9D8B030D-6E8A-4147-A177-3AD203B41FA5}">
                      <a16:colId xmlns:a16="http://schemas.microsoft.com/office/drawing/2014/main" val="117642808"/>
                    </a:ext>
                  </a:extLst>
                </a:gridCol>
                <a:gridCol w="2290195">
                  <a:extLst>
                    <a:ext uri="{9D8B030D-6E8A-4147-A177-3AD203B41FA5}">
                      <a16:colId xmlns:a16="http://schemas.microsoft.com/office/drawing/2014/main" val="362702648"/>
                    </a:ext>
                  </a:extLst>
                </a:gridCol>
                <a:gridCol w="1882935">
                  <a:extLst>
                    <a:ext uri="{9D8B030D-6E8A-4147-A177-3AD203B41FA5}">
                      <a16:colId xmlns:a16="http://schemas.microsoft.com/office/drawing/2014/main" val="3732221222"/>
                    </a:ext>
                  </a:extLst>
                </a:gridCol>
                <a:gridCol w="2328339">
                  <a:extLst>
                    <a:ext uri="{9D8B030D-6E8A-4147-A177-3AD203B41FA5}">
                      <a16:colId xmlns:a16="http://schemas.microsoft.com/office/drawing/2014/main" val="3045209251"/>
                    </a:ext>
                  </a:extLst>
                </a:gridCol>
              </a:tblGrid>
              <a:tr h="716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Название показателя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n-US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SIMS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»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n-GB" sz="16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Бизнес.ру</a:t>
                      </a: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»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n-GB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</a:t>
                      </a: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ой склад»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Разрабатываемая  система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667134"/>
                  </a:ext>
                </a:extLst>
              </a:tr>
              <a:tr h="716839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Удобный интерфейс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058086"/>
                  </a:ext>
                </a:extLst>
              </a:tr>
              <a:tr h="716839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Предоставление аналитики продаж в виде графиков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04304"/>
                  </a:ext>
                </a:extLst>
              </a:tr>
              <a:tr h="716839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Ведение истории заказов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633611"/>
                  </a:ext>
                </a:extLst>
              </a:tr>
              <a:tr h="716839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Отображение анализа продаж за прошлый день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827970"/>
                  </a:ext>
                </a:extLst>
              </a:tr>
              <a:tr h="716839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Универсальность системы под бизнес-проект любой тематики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66478"/>
                  </a:ext>
                </a:extLst>
              </a:tr>
              <a:tr h="716839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Демонстрация среднего чека по заказам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673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26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45443" y="264023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ПЕРЕЧЕНЬ ФУНКЦИОНАЛЬНЫХ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939" y="889600"/>
            <a:ext cx="1142518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i="1" dirty="0">
                <a:cs typeface="Times New Roman" panose="02020603050405020304" pitchFamily="18" charset="0"/>
              </a:rPr>
              <a:t>Функции системы</a:t>
            </a:r>
            <a:r>
              <a:rPr lang="en-US" sz="2000" i="1" dirty="0"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ведение базы данных заказов, позиций, пользователей, категорий;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авторизация и регистрация пользователя;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отображение категорий товаров, позиций и заказов из базы данных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настройка отображения истории заказов с учетом выбранных фильтров;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отображение графиков с учетом подсчета выручки и количества заказов;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подсчет среднего чека по всем заказам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отображение обзора аналитики за прошлый день с учетом подсчета количества заказов и выручки в сравнении со средними соответствующими значениями.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5FAD1-434B-40E9-A80B-C239614AA783}"/>
              </a:ext>
            </a:extLst>
          </p:cNvPr>
          <p:cNvSpPr txBox="1"/>
          <p:nvPr/>
        </p:nvSpPr>
        <p:spPr>
          <a:xfrm>
            <a:off x="612939" y="3555939"/>
            <a:ext cx="1113221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i="1" dirty="0">
                <a:cs typeface="Times New Roman" panose="02020603050405020304" pitchFamily="18" charset="0"/>
              </a:rPr>
              <a:t>Функции пользователя</a:t>
            </a:r>
            <a:r>
              <a:rPr lang="en-US" sz="2000" i="1" dirty="0">
                <a:cs typeface="Times New Roman" panose="02020603050405020304" pitchFamily="18" charset="0"/>
              </a:rPr>
              <a:t>:</a:t>
            </a:r>
            <a:endParaRPr lang="ru-RU" sz="2000" i="1" dirty="0">
              <a:cs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добавление, удаление и редактирование категорий и позиций товаров;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добавления заказов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просмотр истории заказов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фильтрация истории заказов по номеру заказа и по дате заказа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просмотр среднего чека по всем заказам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просмотр аналитики в виде графиков по заказам и по выручке за весь период</a:t>
            </a:r>
            <a:r>
              <a:rPr lang="en-US" dirty="0">
                <a:cs typeface="Times New Roman" panose="02020603050405020304" pitchFamily="18" charset="0"/>
              </a:rPr>
              <a:t>;</a:t>
            </a:r>
            <a:endParaRPr lang="ru-RU" dirty="0">
              <a:cs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ru-RU" dirty="0">
                <a:cs typeface="Times New Roman" panose="02020603050405020304" pitchFamily="18" charset="0"/>
              </a:rPr>
              <a:t>просмотр обзора аналитики за вчерашний день в сравнении со средними соответствующими значениями по количеству заказов и выручке.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A3C30-2A40-4ABB-9E9D-B59EB7541A22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39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СТРУКТУРНАЯ СХЕМА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60364-CA82-48C4-A963-484E1D4F21FA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0A1FF5B-B836-40CF-B4BB-E49CEF2F7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848"/>
            <a:ext cx="12192000" cy="515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5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ВАРИАНТОВ ИСПОЛЬЗОВАНИЯ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EEC07-AF43-4FF9-A07E-666AD3795DF8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AF80C0-D42B-4C83-8AEC-CE3BD75C8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49" y="897889"/>
            <a:ext cx="9964302" cy="506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9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КЛАССОВ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5D8A5-4E96-4F0E-8656-CE79F5BA243B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BFA208-CE6D-47E4-A334-E4778B2D0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21" y="1297802"/>
            <a:ext cx="7142827" cy="479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5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1A9423-67D6-4E52-8CEB-48FBF6FC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5" y="1125619"/>
            <a:ext cx="5578798" cy="49207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91CB3A-2389-41AB-87A6-8A5F509A2C6F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38D935-EA88-43DB-AD5E-C6EEF7A59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492" y="1603806"/>
            <a:ext cx="471673" cy="4716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B771530-0DB3-4B17-B6D0-0035FBE46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27392"/>
            <a:ext cx="5294050" cy="49189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91210B9-C20F-4CA8-B60F-6045201E16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059" y="1534264"/>
            <a:ext cx="471673" cy="4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8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0DA90A-4C29-4C54-8785-519D8C640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565" y="1662750"/>
            <a:ext cx="5283435" cy="3928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D6D9F41-ADBB-4C89-9837-F689F6B82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14687"/>
            <a:ext cx="6908565" cy="32805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2D15B9-56A2-4DBD-BB92-0B32949752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76" y="4154750"/>
            <a:ext cx="387501" cy="3875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C6DA79-AD86-43D8-AEA9-745147878F6B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F14815-37D6-418F-838C-A81CD83286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606" y="2220897"/>
            <a:ext cx="387501" cy="38750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242FA8A-B761-4272-A6C5-065C0EFF71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190" y="2677781"/>
            <a:ext cx="387501" cy="38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8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6DA79-AD86-43D8-AEA9-745147878F6B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75179A-966B-4FDF-8381-016C8E8E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735" y="1290873"/>
            <a:ext cx="7303265" cy="4276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E86666C-F1C3-46B1-86C0-47385E2E7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4" y="1571348"/>
            <a:ext cx="4762228" cy="37153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5670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7E30ED-234B-4AD4-A0C2-DA10409D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0" y="779724"/>
            <a:ext cx="11579060" cy="55446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31093E-5A3B-4C59-96A3-31F14542E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035" y="3770319"/>
            <a:ext cx="527635" cy="527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25B563-70EF-4204-A729-F4875F27FB9A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76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50E3A3-ABBE-44FC-BAEE-F9DA6ADC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940"/>
            <a:ext cx="7001679" cy="33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2EE68B-F840-4E71-A0AD-7C816F879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004" y="3348708"/>
            <a:ext cx="403512" cy="403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8303DE-062A-456E-B2D8-47CA50153239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207A86B-E3A1-43D4-B25B-46AAA1F7EE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89" y="3732302"/>
            <a:ext cx="403512" cy="4035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42E1FF2-23E3-4D06-9927-DEE5DE3AD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137" y="1787767"/>
            <a:ext cx="5051042" cy="32824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336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36366E-C666-49E8-B3CC-186845EA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5" y="839352"/>
            <a:ext cx="11315689" cy="5422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875CA8-E3C9-43B6-A33F-871F8AB461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42" y="2645546"/>
            <a:ext cx="388564" cy="3885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69965C-A7D2-4073-BA84-22780BCFD1A4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67EA60C-EB3A-41AC-8901-42DE7927A5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224" y="1362763"/>
            <a:ext cx="388564" cy="38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60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BD85A8-23A1-42D7-8A87-281BBE5CC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1" y="919447"/>
            <a:ext cx="11170078" cy="52620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1394C4-DEC2-4DC4-A2CD-757B2463D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143" y="4903122"/>
            <a:ext cx="527635" cy="527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E0A8C-75BC-4857-8FD0-C4C86137FBCB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690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0F198E-448C-44DA-9D46-60C5EBE9D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8" y="1125768"/>
            <a:ext cx="10892901" cy="50545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C84EC6-8F0F-4931-BA81-17B71D0952B1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006640-F206-4840-A0CD-031E3431A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190" y="3049988"/>
            <a:ext cx="457435" cy="4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4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4A6D4B-81CF-4521-88B8-3862327B8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57" y="1056444"/>
            <a:ext cx="11399286" cy="51760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D2981B-5BAF-4321-8CFF-5A3E1561E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675" y="2654423"/>
            <a:ext cx="432953" cy="432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7E6878-0780-4214-9191-C3E43AA88E4A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48E236-209F-4B94-892A-DB5629013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06" y="1448540"/>
            <a:ext cx="432953" cy="43295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316A17-22BA-4CBE-B059-09EA34841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273" y="3730100"/>
            <a:ext cx="432953" cy="43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7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1E301C-50A9-4864-8E53-1E454E8E9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7" y="863724"/>
            <a:ext cx="11109953" cy="5373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C94B18-2363-412A-A5D9-3874C0FFF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611" y="4937431"/>
            <a:ext cx="527635" cy="527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13EFEF-06E0-43F5-A07A-9CF068F774D0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94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42FA68-1EAC-4057-A73E-CCFE092D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2" y="869532"/>
            <a:ext cx="11292055" cy="54548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00A5B-07E9-480D-8C95-736979341069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C407AF-BA2C-43E8-B964-D48E885AD4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720" y="1855432"/>
            <a:ext cx="404793" cy="40479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2E90D8-A3DD-4B55-95D4-7DDE8EBB15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715" y="1164454"/>
            <a:ext cx="404793" cy="40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07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04E50E-8F95-4AE4-8F50-F18552371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86" y="885558"/>
            <a:ext cx="11109953" cy="54388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4B5F08-1481-4583-9E02-C5E0FF2818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807" y="1207363"/>
            <a:ext cx="317544" cy="317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9E0185-7B1E-4B0E-B7C8-D6A35A0DFA7F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094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53423-29B7-415D-89B2-63044EB5970B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54FE51-0B95-4A2E-A250-11E7D9393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81" y="829213"/>
            <a:ext cx="9466238" cy="2774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8BD9E2-2ECA-44EA-867B-14FB5E95F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181" y="3761617"/>
            <a:ext cx="9612899" cy="23462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871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FF69D6-2E00-4F97-A3F8-E6202EAF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25" y="966640"/>
            <a:ext cx="11469950" cy="52555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ИНТЕРФЕЙС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8E933B-CAC1-4F6D-828D-FF7C84B536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93" y="1982529"/>
            <a:ext cx="385756" cy="385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482CAF-FCFC-4F76-9A11-2695E91B4F7B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905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ИТОГИ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927" y="1642250"/>
            <a:ext cx="999425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i="1" dirty="0">
                <a:cs typeface="Times New Roman" panose="02020603050405020304" pitchFamily="18" charset="0"/>
              </a:rPr>
              <a:t>Были выполнены поставленные задачи</a:t>
            </a:r>
            <a:r>
              <a:rPr lang="en-US" sz="2200" i="1" dirty="0"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ru-RU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изучена и описана предметная область;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ru-RU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сделан обзор систем-аналогов</a:t>
            </a: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ru-RU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разработана структурная схема системы;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ru-RU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 информационно-логический проект системы по методологии UML;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ru-RU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разработаны логическая схема БД и пользовательский интерфейс;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-"/>
              <a:tabLst>
                <a:tab pos="630555" algn="l"/>
              </a:tabLst>
            </a:pPr>
            <a:r>
              <a:rPr lang="ru-RU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реализована система, выполнены тестирование и отладка.</a:t>
            </a:r>
          </a:p>
          <a:p>
            <a:endParaRPr lang="ru-RU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55535-E831-4243-BCA5-1AB511EFB5A7}"/>
              </a:ext>
            </a:extLst>
          </p:cNvPr>
          <p:cNvSpPr txBox="1"/>
          <p:nvPr/>
        </p:nvSpPr>
        <p:spPr>
          <a:xfrm>
            <a:off x="533928" y="6430065"/>
            <a:ext cx="7251789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1400" b="0" i="0" dirty="0">
                <a:solidFill>
                  <a:srgbClr val="2192CA"/>
                </a:solidFill>
                <a:effectLst/>
              </a:rPr>
              <a:t>Тема: Разработка веб-приложения для ведения учета </a:t>
            </a:r>
            <a:r>
              <a:rPr lang="ru-RU" sz="1400" dirty="0">
                <a:solidFill>
                  <a:srgbClr val="2192CA"/>
                </a:solidFill>
              </a:rPr>
              <a:t>заказов</a:t>
            </a:r>
            <a:r>
              <a:rPr lang="ru-RU" sz="1400" b="0" i="0" dirty="0">
                <a:solidFill>
                  <a:srgbClr val="2192CA"/>
                </a:solidFill>
                <a:effectLst/>
              </a:rPr>
              <a:t> и анализа продаж для бизнеса</a:t>
            </a:r>
            <a:endParaRPr lang="ru-RU" sz="1400" dirty="0">
              <a:solidFill>
                <a:srgbClr val="2192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0635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107879</TotalTime>
  <Words>982</Words>
  <Application>Microsoft Office PowerPoint</Application>
  <PresentationFormat>Широкоэкранный</PresentationFormat>
  <Paragraphs>185</Paragraphs>
  <Slides>26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Elektra Medium Pro</vt:lpstr>
      <vt:lpstr>Elektra Text Pro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Дарья Архарова</cp:lastModifiedBy>
  <cp:revision>142</cp:revision>
  <cp:lastPrinted>2024-04-21T19:03:14Z</cp:lastPrinted>
  <dcterms:created xsi:type="dcterms:W3CDTF">2016-03-09T10:31:39Z</dcterms:created>
  <dcterms:modified xsi:type="dcterms:W3CDTF">2024-06-09T18:53:01Z</dcterms:modified>
</cp:coreProperties>
</file>